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241C3D"/>
        </a:solidFill>
        <a:effectLst/>
      </p:bgPr>
    </p:bg>
    <p:spTree>
      <p:nvGrpSpPr>
        <p:cNvPr id="1" name=""/>
        <p:cNvGrpSpPr/>
        <p:nvPr/>
      </p:nvGrpSpPr>
      <p:grpSpPr>
        <a:xfrm>
          <a:off x="0" y="0"/>
          <a:ext cx="0" cy="0"/>
          <a:chOff x="0" y="0"/>
          <a:chExt cx="0" cy="0"/>
        </a:xfrm>
      </p:grpSpPr>
      <p:sp>
        <p:nvSpPr>
          <p:cNvPr id="3" name="Shape 1"/>
          <p:cNvSpPr/>
          <p:nvPr/>
        </p:nvSpPr>
        <p:spPr>
          <a:xfrm>
            <a:off x="-1828800" y="4572000"/>
            <a:ext cx="4572000" cy="4572000"/>
          </a:xfrm>
          <a:prstGeom prst="ellipse">
            <a:avLst/>
          </a:prstGeom>
          <a:solidFill>
            <a:srgbClr val="F9E795">
              <a:alpha val="15000"/>
            </a:srgbClr>
          </a:solidFill>
        </p:spPr>
      </p:sp>
      <p:sp>
        <p:nvSpPr>
          <p:cNvPr id="4" name="Text 2"/>
          <p:cNvSpPr txBox="1"/>
          <p:nvPr/>
        </p:nvSpPr>
        <p:spPr>
          <a:xfrm>
            <a:off x="760095" y="901065"/>
            <a:ext cx="5539740" cy="1459865"/>
          </a:xfrm>
          <a:prstGeom prst="rect">
            <a:avLst/>
          </a:prstGeom>
          <a:noFill/>
        </p:spPr>
        <p:txBody>
          <a:bodyPr wrap="square" lIns="0" tIns="0" rIns="0" bIns="0" rtlCol="0" anchor="ctr"/>
          <a:lstStyle/>
          <a:p>
            <a:pPr marL="0" indent="0">
              <a:buNone/>
            </a:pPr>
            <a:r>
              <a:rPr lang="en-US" sz="4400" b="1" kern="0" spc="400" dirty="0">
                <a:solidFill>
                  <a:srgbClr val="F9E795"/>
                </a:solidFill>
                <a:latin typeface="Amiri" panose="00000500000000000000" charset="0"/>
                <a:ea typeface="Microsoft YaHei" panose="020B0503020204020204" charset="-122"/>
                <a:cs typeface="Amiri" panose="00000500000000000000" charset="0"/>
              </a:rPr>
              <a:t>ONLINE FOOD DELIVERY</a:t>
            </a:r>
            <a:endParaRPr lang="en-US" sz="4400" b="1" kern="0" spc="400" dirty="0">
              <a:solidFill>
                <a:srgbClr val="F9E795"/>
              </a:solidFill>
              <a:latin typeface="Amiri" panose="00000500000000000000" charset="0"/>
              <a:ea typeface="Microsoft YaHei" panose="020B0503020204020204" charset="-122"/>
              <a:cs typeface="Amiri" panose="00000500000000000000" charset="0"/>
            </a:endParaRPr>
          </a:p>
        </p:txBody>
      </p:sp>
      <p:sp>
        <p:nvSpPr>
          <p:cNvPr id="5" name="Text 3"/>
          <p:cNvSpPr txBox="1"/>
          <p:nvPr/>
        </p:nvSpPr>
        <p:spPr>
          <a:xfrm>
            <a:off x="760095" y="2360930"/>
            <a:ext cx="10058400" cy="1188720"/>
          </a:xfrm>
          <a:prstGeom prst="rect">
            <a:avLst/>
          </a:prstGeom>
          <a:noFill/>
        </p:spPr>
        <p:txBody>
          <a:bodyPr wrap="square" lIns="0" tIns="0" rIns="0" bIns="0" rtlCol="0" anchor="ctr"/>
          <a:lstStyle/>
          <a:p>
            <a:pPr marL="0" indent="0">
              <a:buNone/>
            </a:pPr>
            <a:r>
              <a:rPr lang="en-US" sz="3600" b="1" dirty="0">
                <a:solidFill>
                  <a:srgbClr val="FFFFFF"/>
                </a:solidFill>
                <a:latin typeface="Amiri" panose="00000500000000000000" charset="0"/>
                <a:ea typeface="Cambria" panose="02040503050406030204" pitchFamily="34" charset="-122"/>
                <a:cs typeface="Amiri" panose="00000500000000000000" charset="0"/>
              </a:rPr>
              <a:t>Customer Behavior &amp; Feedback Analysis</a:t>
            </a:r>
            <a:endParaRPr lang="en-US" sz="3600" b="1" dirty="0">
              <a:solidFill>
                <a:srgbClr val="FFFFFF"/>
              </a:solidFill>
              <a:latin typeface="Amiri" panose="00000500000000000000" charset="0"/>
              <a:ea typeface="Cambria" panose="02040503050406030204" pitchFamily="34" charset="-122"/>
              <a:cs typeface="Amiri" panose="00000500000000000000" charset="0"/>
            </a:endParaRPr>
          </a:p>
        </p:txBody>
      </p:sp>
      <p:sp>
        <p:nvSpPr>
          <p:cNvPr id="7" name="Text 5"/>
          <p:cNvSpPr txBox="1"/>
          <p:nvPr/>
        </p:nvSpPr>
        <p:spPr>
          <a:xfrm>
            <a:off x="732790" y="5615940"/>
            <a:ext cx="2433320" cy="548640"/>
          </a:xfrm>
          <a:prstGeom prst="rect">
            <a:avLst/>
          </a:prstGeom>
          <a:noFill/>
        </p:spPr>
        <p:txBody>
          <a:bodyPr wrap="square" lIns="0" tIns="0" rIns="0" bIns="0" rtlCol="0" anchor="ctr"/>
          <a:lstStyle/>
          <a:p>
            <a:pPr marL="0" indent="0">
              <a:buNone/>
            </a:pPr>
            <a:r>
              <a:rPr lang="en-US" sz="2000" dirty="0">
                <a:solidFill>
                  <a:srgbClr val="FFFF00"/>
                </a:solidFill>
                <a:latin typeface="Amiri" panose="00000500000000000000" charset="0"/>
                <a:cs typeface="Amiri" panose="00000500000000000000" charset="0"/>
              </a:rPr>
              <a:t>Tech Tiitans</a:t>
            </a:r>
            <a:endParaRPr lang="en-US" sz="2000" dirty="0">
              <a:solidFill>
                <a:srgbClr val="FFFF00"/>
              </a:solidFill>
              <a:latin typeface="Amiri" panose="00000500000000000000" charset="0"/>
              <a:cs typeface="Amiri" panose="00000500000000000000" charset="0"/>
            </a:endParaRPr>
          </a:p>
        </p:txBody>
      </p:sp>
      <p:pic>
        <p:nvPicPr>
          <p:cNvPr id="8" name="Picture 7" descr="ic_delivery.png"/>
          <p:cNvPicPr>
            <a:picLocks noChangeAspect="1"/>
          </p:cNvPicPr>
          <p:nvPr/>
        </p:nvPicPr>
        <p:blipFill>
          <a:blip r:embed="rId1"/>
          <a:stretch>
            <a:fillRect/>
          </a:stretch>
        </p:blipFill>
        <p:spPr>
          <a:xfrm>
            <a:off x="9500000" y="550000"/>
            <a:ext cx="2000000" cy="2000000"/>
          </a:xfrm>
          <a:prstGeom prst="rect">
            <a:avLst/>
          </a:prstGeom>
        </p:spPr>
      </p:pic>
      <p:sp>
        <p:nvSpPr>
          <p:cNvPr id="2" name="Shape 0"/>
          <p:cNvSpPr/>
          <p:nvPr/>
        </p:nvSpPr>
        <p:spPr>
          <a:xfrm>
            <a:off x="8961120" y="-2011680"/>
            <a:ext cx="5486400" cy="5486400"/>
          </a:xfrm>
          <a:prstGeom prst="ellipse">
            <a:avLst/>
          </a:prstGeom>
          <a:solidFill>
            <a:srgbClr val="F96167">
              <a:alpha val="20000"/>
            </a:srgbClr>
          </a:solidFill>
        </p:spPr>
        <p:txBody>
          <a:bodyPr/>
          <a:p>
            <a:endParaRPr lang="en-US"/>
          </a:p>
        </p:txBody>
      </p:sp>
      <p:sp>
        <p:nvSpPr>
          <p:cNvPr id="11" name="Oval Callout 10"/>
          <p:cNvSpPr/>
          <p:nvPr/>
        </p:nvSpPr>
        <p:spPr>
          <a:xfrm>
            <a:off x="6750685" y="3749040"/>
            <a:ext cx="4323080" cy="2415540"/>
          </a:xfrm>
          <a:prstGeom prst="wedgeEllipseCallout">
            <a:avLst>
              <a:gd name="adj1" fmla="val -35988"/>
              <a:gd name="adj2" fmla="val 62897"/>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Text Box 11"/>
          <p:cNvSpPr txBox="1"/>
          <p:nvPr/>
        </p:nvSpPr>
        <p:spPr>
          <a:xfrm>
            <a:off x="7364095" y="4036060"/>
            <a:ext cx="3096260" cy="2045970"/>
          </a:xfrm>
          <a:prstGeom prst="rect">
            <a:avLst/>
          </a:prstGeom>
          <a:noFill/>
        </p:spPr>
        <p:txBody>
          <a:bodyPr wrap="square" rtlCol="0">
            <a:noAutofit/>
          </a:bodyPr>
          <a:p>
            <a:pPr algn="ctr"/>
            <a:r>
              <a:rPr lang="en-IN" altLang="en-US" sz="2200" b="1">
                <a:solidFill>
                  <a:schemeClr val="bg1"/>
                </a:solidFill>
                <a:latin typeface="Comic Sans MS" panose="030F0702030302020204" charset="0"/>
                <a:cs typeface="Comic Sans MS" panose="030F0702030302020204" charset="0"/>
              </a:rPr>
              <a:t>SK. AADIL</a:t>
            </a:r>
            <a:endParaRPr lang="en-IN" altLang="en-US" sz="2200" b="1">
              <a:solidFill>
                <a:schemeClr val="bg1"/>
              </a:solidFill>
              <a:latin typeface="Comic Sans MS" panose="030F0702030302020204" charset="0"/>
              <a:cs typeface="Comic Sans MS" panose="030F0702030302020204" charset="0"/>
            </a:endParaRPr>
          </a:p>
          <a:p>
            <a:pPr algn="ctr"/>
            <a:r>
              <a:rPr lang="en-IN" altLang="en-US" sz="2200" b="1">
                <a:solidFill>
                  <a:schemeClr val="bg1"/>
                </a:solidFill>
                <a:latin typeface="Comic Sans MS" panose="030F0702030302020204" charset="0"/>
                <a:cs typeface="Comic Sans MS" panose="030F0702030302020204" charset="0"/>
              </a:rPr>
              <a:t>K. SAGAR</a:t>
            </a:r>
            <a:endParaRPr lang="en-IN" altLang="en-US" sz="2200" b="1">
              <a:solidFill>
                <a:schemeClr val="bg1"/>
              </a:solidFill>
              <a:latin typeface="Comic Sans MS" panose="030F0702030302020204" charset="0"/>
              <a:cs typeface="Comic Sans MS" panose="030F0702030302020204" charset="0"/>
            </a:endParaRPr>
          </a:p>
          <a:p>
            <a:pPr algn="ctr"/>
            <a:r>
              <a:rPr lang="en-IN" altLang="en-US" sz="2200" b="1">
                <a:solidFill>
                  <a:schemeClr val="bg1"/>
                </a:solidFill>
                <a:latin typeface="Comic Sans MS" panose="030F0702030302020204" charset="0"/>
                <a:cs typeface="Comic Sans MS" panose="030F0702030302020204" charset="0"/>
              </a:rPr>
              <a:t>N. SUBAHAN</a:t>
            </a:r>
            <a:endParaRPr lang="en-IN" altLang="en-US" sz="2200" b="1">
              <a:solidFill>
                <a:schemeClr val="bg1"/>
              </a:solidFill>
              <a:latin typeface="Comic Sans MS" panose="030F0702030302020204" charset="0"/>
              <a:cs typeface="Comic Sans MS" panose="030F0702030302020204" charset="0"/>
            </a:endParaRPr>
          </a:p>
          <a:p>
            <a:pPr algn="ctr"/>
            <a:r>
              <a:rPr lang="en-IN" altLang="en-US" sz="2200" b="1">
                <a:solidFill>
                  <a:schemeClr val="bg1"/>
                </a:solidFill>
                <a:latin typeface="Comic Sans MS" panose="030F0702030302020204" charset="0"/>
                <a:cs typeface="Comic Sans MS" panose="030F0702030302020204" charset="0"/>
                <a:sym typeface="+mn-ea"/>
              </a:rPr>
              <a:t>CH. MANOJ KUMAR</a:t>
            </a:r>
            <a:endParaRPr lang="en-IN" altLang="en-US" sz="2200" b="1">
              <a:solidFill>
                <a:schemeClr val="bg1"/>
              </a:solidFill>
              <a:latin typeface="Comic Sans MS" panose="030F0702030302020204" charset="0"/>
              <a:cs typeface="Comic Sans MS" panose="030F0702030302020204" charset="0"/>
            </a:endParaRPr>
          </a:p>
          <a:p>
            <a:pPr algn="ctr"/>
            <a:endParaRPr lang="en-IN" altLang="en-US" sz="2200" b="1">
              <a:solidFill>
                <a:schemeClr val="bg1"/>
              </a:solidFill>
              <a:latin typeface="Comic Sans MS" panose="030F0702030302020204" charset="0"/>
              <a:cs typeface="Comic Sans MS" panose="030F07020303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6167"/>
                </a:solidFill>
                <a:latin typeface="Calibri" panose="020F0502020204030204" pitchFamily="34" charset="0"/>
                <a:ea typeface="Calibri" panose="020F0502020204030204" pitchFamily="34" charset="-122"/>
                <a:cs typeface="Calibri" panose="020F0502020204030204" pitchFamily="34" charset="-120"/>
              </a:rPr>
              <a:t>01 · DATASET SELECTED</a:t>
            </a:r>
            <a:endParaRPr lang="en-US" sz="1200" dirty="0"/>
          </a:p>
        </p:txBody>
      </p:sp>
      <p:sp>
        <p:nvSpPr>
          <p:cNvPr id="3" name="Text 1"/>
          <p:cNvSpPr txBox="1"/>
          <p:nvPr/>
        </p:nvSpPr>
        <p:spPr>
          <a:xfrm>
            <a:off x="548640" y="621792"/>
            <a:ext cx="10515600" cy="594360"/>
          </a:xfrm>
          <a:prstGeom prst="rect">
            <a:avLst/>
          </a:prstGeom>
          <a:noFill/>
        </p:spPr>
        <p:txBody>
          <a:bodyPr wrap="square" lIns="0" tIns="0" rIns="0" bIns="0" rtlCol="0" anchor="ctr"/>
          <a:lstStyle/>
          <a:p>
            <a:pPr marL="0" indent="0">
              <a:buNone/>
            </a:pPr>
            <a:r>
              <a:rPr lang="en-US" sz="2800" b="1" dirty="0">
                <a:solidFill>
                  <a:srgbClr val="2F3C7E"/>
                </a:solidFill>
                <a:latin typeface="Cambria" panose="02040503050406030204" pitchFamily="34" charset="0"/>
                <a:ea typeface="Cambria" panose="02040503050406030204" pitchFamily="34" charset="-122"/>
                <a:cs typeface="Cambria" panose="02040503050406030204" pitchFamily="34" charset="-120"/>
              </a:rPr>
              <a:t>The Online Food Dataset</a:t>
            </a:r>
            <a:endParaRPr lang="en-US" sz="2800" dirty="0"/>
          </a:p>
        </p:txBody>
      </p:sp>
      <p:sp>
        <p:nvSpPr>
          <p:cNvPr id="4" name="Shape 2"/>
          <p:cNvSpPr/>
          <p:nvPr/>
        </p:nvSpPr>
        <p:spPr>
          <a:xfrm>
            <a:off x="548640" y="1417320"/>
            <a:ext cx="10881360" cy="1554480"/>
          </a:xfrm>
          <a:prstGeom prst="roundRect">
            <a:avLst>
              <a:gd name="adj" fmla="val 5882"/>
            </a:avLst>
          </a:prstGeom>
          <a:solidFill>
            <a:srgbClr val="FBEAEA"/>
          </a:solidFill>
        </p:spPr>
      </p:sp>
      <p:sp>
        <p:nvSpPr>
          <p:cNvPr id="5" name="Text 3"/>
          <p:cNvSpPr txBox="1"/>
          <p:nvPr/>
        </p:nvSpPr>
        <p:spPr>
          <a:xfrm>
            <a:off x="868680" y="1600200"/>
            <a:ext cx="10241280" cy="1234440"/>
          </a:xfrm>
          <a:prstGeom prst="rect">
            <a:avLst/>
          </a:prstGeom>
          <a:noFill/>
        </p:spPr>
        <p:txBody>
          <a:bodyPr wrap="square" lIns="0" tIns="0" rIns="0" bIns="0" rtlCol="0" anchor="ctr"/>
          <a:lstStyle/>
          <a:p>
            <a:pPr marL="0" indent="0">
              <a:lnSpc>
                <a:spcPct val="125000"/>
              </a:lnSpc>
              <a:buNone/>
            </a:pPr>
            <a:r>
              <a:rPr lang="en-US" sz="1400" dirty="0">
                <a:solidFill>
                  <a:srgbClr val="3A3A45"/>
                </a:solidFill>
                <a:latin typeface="Calibri" panose="020F0502020204030204" pitchFamily="34" charset="0"/>
                <a:ea typeface="Calibri" panose="020F0502020204030204" pitchFamily="34" charset="-122"/>
                <a:cs typeface="Calibri" panose="020F0502020204030204" pitchFamily="34" charset="-120"/>
              </a:rPr>
              <a:t>A survey-style dataset collected from an online food ordering platform. Each of the 388 rows represents one respondent, capturing their demographics (age, gender, marital status, occupation, income, education, family size), their location (latitude, longitude, pin code), and the outcome of their order experience (whether the order was placed, and their feedback on it).</a:t>
            </a:r>
            <a:endParaRPr lang="en-US" sz="1400" dirty="0"/>
          </a:p>
        </p:txBody>
      </p:sp>
      <p:sp>
        <p:nvSpPr>
          <p:cNvPr id="6" name="Shape 4"/>
          <p:cNvSpPr/>
          <p:nvPr/>
        </p:nvSpPr>
        <p:spPr>
          <a:xfrm>
            <a:off x="548640" y="3291840"/>
            <a:ext cx="2606040" cy="2194560"/>
          </a:xfrm>
          <a:prstGeom prst="roundRect">
            <a:avLst>
              <a:gd name="adj" fmla="val 4167"/>
            </a:avLst>
          </a:prstGeom>
          <a:solidFill>
            <a:srgbClr val="2F3C7E"/>
          </a:solidFill>
        </p:spPr>
      </p:sp>
      <p:sp>
        <p:nvSpPr>
          <p:cNvPr id="7" name="Text 5"/>
          <p:cNvSpPr txBox="1"/>
          <p:nvPr/>
        </p:nvSpPr>
        <p:spPr>
          <a:xfrm>
            <a:off x="731520" y="3520440"/>
            <a:ext cx="2240280" cy="914400"/>
          </a:xfrm>
          <a:prstGeom prst="rect">
            <a:avLst/>
          </a:prstGeom>
          <a:noFill/>
        </p:spPr>
        <p:txBody>
          <a:bodyPr wrap="square" lIns="0" tIns="0" rIns="0" bIns="0" rtlCol="0" anchor="ctr"/>
          <a:lstStyle/>
          <a:p>
            <a:pPr marL="0" indent="0">
              <a:buNone/>
            </a:pPr>
            <a:r>
              <a:rPr lang="en-US" sz="3800" b="1" dirty="0">
                <a:solidFill>
                  <a:srgbClr val="F9E795"/>
                </a:solidFill>
                <a:latin typeface="Cambria" panose="02040503050406030204" pitchFamily="34" charset="0"/>
                <a:ea typeface="Cambria" panose="02040503050406030204" pitchFamily="34" charset="-122"/>
                <a:cs typeface="Cambria" panose="02040503050406030204" pitchFamily="34" charset="-120"/>
              </a:rPr>
              <a:t>388</a:t>
            </a:r>
            <a:endParaRPr lang="en-US" sz="3800" dirty="0"/>
          </a:p>
        </p:txBody>
      </p:sp>
      <p:sp>
        <p:nvSpPr>
          <p:cNvPr id="8" name="Text 6"/>
          <p:cNvSpPr txBox="1"/>
          <p:nvPr/>
        </p:nvSpPr>
        <p:spPr>
          <a:xfrm>
            <a:off x="731520" y="4434840"/>
            <a:ext cx="2240280" cy="822960"/>
          </a:xfrm>
          <a:prstGeom prst="rect">
            <a:avLst/>
          </a:prstGeom>
          <a:noFill/>
        </p:spPr>
        <p:txBody>
          <a:bodyPr wrap="square" lIns="0" tIns="0" rIns="0" bIns="0" rtlCol="0" anchor="ctr"/>
          <a:lstStyle/>
          <a:p>
            <a:pPr marL="0" indent="0">
              <a:lnSpc>
                <a:spcPct val="11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raw rows</a:t>
            </a:r>
            <a:endParaRPr lang="en-US" sz="1300" dirty="0"/>
          </a:p>
        </p:txBody>
      </p:sp>
      <p:sp>
        <p:nvSpPr>
          <p:cNvPr id="9" name="Shape 7"/>
          <p:cNvSpPr/>
          <p:nvPr/>
        </p:nvSpPr>
        <p:spPr>
          <a:xfrm>
            <a:off x="3383280" y="3291840"/>
            <a:ext cx="2606040" cy="2194560"/>
          </a:xfrm>
          <a:prstGeom prst="roundRect">
            <a:avLst>
              <a:gd name="adj" fmla="val 4167"/>
            </a:avLst>
          </a:prstGeom>
          <a:solidFill>
            <a:srgbClr val="31285A"/>
          </a:solidFill>
        </p:spPr>
      </p:sp>
      <p:sp>
        <p:nvSpPr>
          <p:cNvPr id="10" name="Text 8"/>
          <p:cNvSpPr txBox="1"/>
          <p:nvPr/>
        </p:nvSpPr>
        <p:spPr>
          <a:xfrm>
            <a:off x="3566160" y="3520440"/>
            <a:ext cx="2240280" cy="914400"/>
          </a:xfrm>
          <a:prstGeom prst="rect">
            <a:avLst/>
          </a:prstGeom>
          <a:noFill/>
        </p:spPr>
        <p:txBody>
          <a:bodyPr wrap="square" lIns="0" tIns="0" rIns="0" bIns="0" rtlCol="0" anchor="ctr"/>
          <a:lstStyle/>
          <a:p>
            <a:pPr marL="0" indent="0">
              <a:buNone/>
            </a:pPr>
            <a:r>
              <a:rPr lang="en-US" sz="3800" b="1" dirty="0">
                <a:solidFill>
                  <a:srgbClr val="F9E795"/>
                </a:solidFill>
                <a:latin typeface="Cambria" panose="02040503050406030204" pitchFamily="34" charset="0"/>
                <a:ea typeface="Cambria" panose="02040503050406030204" pitchFamily="34" charset="-122"/>
                <a:cs typeface="Cambria" panose="02040503050406030204" pitchFamily="34" charset="-120"/>
              </a:rPr>
              <a:t>14</a:t>
            </a:r>
            <a:endParaRPr lang="en-US" sz="3800" dirty="0"/>
          </a:p>
        </p:txBody>
      </p:sp>
      <p:sp>
        <p:nvSpPr>
          <p:cNvPr id="11" name="Text 9"/>
          <p:cNvSpPr txBox="1"/>
          <p:nvPr/>
        </p:nvSpPr>
        <p:spPr>
          <a:xfrm>
            <a:off x="3566160" y="4434840"/>
            <a:ext cx="2240280" cy="822960"/>
          </a:xfrm>
          <a:prstGeom prst="rect">
            <a:avLst/>
          </a:prstGeom>
          <a:noFill/>
        </p:spPr>
        <p:txBody>
          <a:bodyPr wrap="square" lIns="0" tIns="0" rIns="0" bIns="0" rtlCol="0" anchor="ctr"/>
          <a:lstStyle/>
          <a:p>
            <a:pPr marL="0" indent="0">
              <a:lnSpc>
                <a:spcPct val="11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columns</a:t>
            </a:r>
            <a:endParaRPr lang="en-US" sz="1300" dirty="0"/>
          </a:p>
        </p:txBody>
      </p:sp>
      <p:sp>
        <p:nvSpPr>
          <p:cNvPr id="12" name="Shape 10"/>
          <p:cNvSpPr/>
          <p:nvPr/>
        </p:nvSpPr>
        <p:spPr>
          <a:xfrm>
            <a:off x="6217920" y="3291840"/>
            <a:ext cx="2606040" cy="2194560"/>
          </a:xfrm>
          <a:prstGeom prst="roundRect">
            <a:avLst>
              <a:gd name="adj" fmla="val 4167"/>
            </a:avLst>
          </a:prstGeom>
          <a:solidFill>
            <a:srgbClr val="2F3C7E"/>
          </a:solidFill>
        </p:spPr>
      </p:sp>
      <p:sp>
        <p:nvSpPr>
          <p:cNvPr id="13" name="Text 11"/>
          <p:cNvSpPr txBox="1"/>
          <p:nvPr/>
        </p:nvSpPr>
        <p:spPr>
          <a:xfrm>
            <a:off x="6400800" y="3520440"/>
            <a:ext cx="2240280" cy="914400"/>
          </a:xfrm>
          <a:prstGeom prst="rect">
            <a:avLst/>
          </a:prstGeom>
          <a:noFill/>
        </p:spPr>
        <p:txBody>
          <a:bodyPr wrap="square" lIns="0" tIns="0" rIns="0" bIns="0" rtlCol="0" anchor="ctr"/>
          <a:lstStyle/>
          <a:p>
            <a:pPr marL="0" indent="0">
              <a:buNone/>
            </a:pPr>
            <a:r>
              <a:rPr lang="en-US" sz="3800" b="1" dirty="0">
                <a:solidFill>
                  <a:srgbClr val="F9E795"/>
                </a:solidFill>
                <a:latin typeface="Cambria" panose="02040503050406030204" pitchFamily="34" charset="0"/>
                <a:ea typeface="Cambria" panose="02040503050406030204" pitchFamily="34" charset="-122"/>
                <a:cs typeface="Cambria" panose="02040503050406030204" pitchFamily="34" charset="-120"/>
              </a:rPr>
              <a:t>2</a:t>
            </a:r>
            <a:endParaRPr lang="en-US" sz="3800" dirty="0"/>
          </a:p>
        </p:txBody>
      </p:sp>
      <p:sp>
        <p:nvSpPr>
          <p:cNvPr id="14" name="Text 12"/>
          <p:cNvSpPr txBox="1"/>
          <p:nvPr/>
        </p:nvSpPr>
        <p:spPr>
          <a:xfrm>
            <a:off x="6400800" y="4434840"/>
            <a:ext cx="2240280" cy="822960"/>
          </a:xfrm>
          <a:prstGeom prst="rect">
            <a:avLst/>
          </a:prstGeom>
          <a:noFill/>
        </p:spPr>
        <p:txBody>
          <a:bodyPr wrap="square" lIns="0" tIns="0" rIns="0" bIns="0" rtlCol="0" anchor="ctr"/>
          <a:lstStyle/>
          <a:p>
            <a:pPr marL="0" indent="0">
              <a:lnSpc>
                <a:spcPct val="11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outcome fields</a:t>
            </a:r>
            <a:endParaRPr lang="en-US" sz="1300" dirty="0"/>
          </a:p>
          <a:p>
            <a:pPr marL="0" indent="0">
              <a:lnSpc>
                <a:spcPct val="11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(Output, Feedback)</a:t>
            </a:r>
            <a:endParaRPr lang="en-US" sz="1300" dirty="0"/>
          </a:p>
        </p:txBody>
      </p:sp>
      <p:sp>
        <p:nvSpPr>
          <p:cNvPr id="15" name="Shape 13"/>
          <p:cNvSpPr/>
          <p:nvPr/>
        </p:nvSpPr>
        <p:spPr>
          <a:xfrm>
            <a:off x="9052560" y="3291840"/>
            <a:ext cx="2606040" cy="2194560"/>
          </a:xfrm>
          <a:prstGeom prst="roundRect">
            <a:avLst>
              <a:gd name="adj" fmla="val 4167"/>
            </a:avLst>
          </a:prstGeom>
          <a:solidFill>
            <a:srgbClr val="31285A"/>
          </a:solidFill>
        </p:spPr>
      </p:sp>
      <p:sp>
        <p:nvSpPr>
          <p:cNvPr id="16" name="Text 14"/>
          <p:cNvSpPr txBox="1"/>
          <p:nvPr/>
        </p:nvSpPr>
        <p:spPr>
          <a:xfrm>
            <a:off x="9235440" y="3520440"/>
            <a:ext cx="2240280" cy="914400"/>
          </a:xfrm>
          <a:prstGeom prst="rect">
            <a:avLst/>
          </a:prstGeom>
          <a:noFill/>
        </p:spPr>
        <p:txBody>
          <a:bodyPr wrap="square" lIns="0" tIns="0" rIns="0" bIns="0" rtlCol="0" anchor="ctr"/>
          <a:lstStyle/>
          <a:p>
            <a:pPr marL="0" indent="0">
              <a:buNone/>
            </a:pPr>
            <a:r>
              <a:rPr lang="en-US" sz="3800" b="1" dirty="0">
                <a:solidFill>
                  <a:srgbClr val="F9E795"/>
                </a:solidFill>
                <a:latin typeface="Cambria" panose="02040503050406030204" pitchFamily="34" charset="0"/>
                <a:ea typeface="Cambria" panose="02040503050406030204" pitchFamily="34" charset="-122"/>
                <a:cs typeface="Cambria" panose="02040503050406030204" pitchFamily="34" charset="-120"/>
              </a:rPr>
              <a:t>10</a:t>
            </a:r>
            <a:endParaRPr lang="en-US" sz="3800" dirty="0"/>
          </a:p>
        </p:txBody>
      </p:sp>
      <p:sp>
        <p:nvSpPr>
          <p:cNvPr id="17" name="Text 15"/>
          <p:cNvSpPr txBox="1"/>
          <p:nvPr/>
        </p:nvSpPr>
        <p:spPr>
          <a:xfrm>
            <a:off x="9235440" y="4434840"/>
            <a:ext cx="2240280" cy="822960"/>
          </a:xfrm>
          <a:prstGeom prst="rect">
            <a:avLst/>
          </a:prstGeom>
          <a:noFill/>
        </p:spPr>
        <p:txBody>
          <a:bodyPr wrap="square" lIns="0" tIns="0" rIns="0" bIns="0" rtlCol="0" anchor="ctr"/>
          <a:lstStyle/>
          <a:p>
            <a:pPr marL="0" indent="0">
              <a:lnSpc>
                <a:spcPct val="11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demographic &amp;</a:t>
            </a:r>
            <a:endParaRPr lang="en-US" sz="1300" dirty="0"/>
          </a:p>
          <a:p>
            <a:pPr marL="0" indent="0">
              <a:lnSpc>
                <a:spcPct val="115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location fields</a:t>
            </a:r>
            <a:endParaRPr lang="en-US" sz="1300" dirty="0"/>
          </a:p>
        </p:txBody>
      </p:sp>
      <p:sp>
        <p:nvSpPr>
          <p:cNvPr id="18" name="Text 16"/>
          <p:cNvSpPr txBox="1"/>
          <p:nvPr/>
        </p:nvSpPr>
        <p:spPr>
          <a:xfrm>
            <a:off x="548640" y="5760720"/>
            <a:ext cx="11064240" cy="548640"/>
          </a:xfrm>
          <a:prstGeom prst="rect">
            <a:avLst/>
          </a:prstGeom>
          <a:noFill/>
        </p:spPr>
        <p:txBody>
          <a:bodyPr wrap="square" lIns="0" tIns="0" rIns="0" bIns="0" rtlCol="0" anchor="ctr"/>
          <a:lstStyle/>
          <a:p>
            <a:pPr marL="0" indent="0">
              <a:buNone/>
            </a:pPr>
            <a:r>
              <a:rPr lang="en-US" sz="1150" i="1" dirty="0">
                <a:solidFill>
                  <a:srgbClr val="6B6B7B"/>
                </a:solidFill>
                <a:latin typeface="Calibri" panose="020F0502020204030204" pitchFamily="34" charset="0"/>
                <a:ea typeface="Calibri" panose="020F0502020204030204" pitchFamily="34" charset="-122"/>
                <a:cs typeface="Calibri" panose="020F0502020204030204" pitchFamily="34" charset="-120"/>
              </a:rPr>
              <a:t>Columns include: Age, Gender, Marital Status, Occupation, Monthly Income, Educational Qualifications, Family size, Customer Type, Latitude, Longitude, Pin code, Output, Feedback.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6167"/>
                </a:solidFill>
                <a:latin typeface="Calibri" panose="020F0502020204030204" pitchFamily="34" charset="0"/>
                <a:ea typeface="Calibri" panose="020F0502020204030204" pitchFamily="34" charset="-122"/>
                <a:cs typeface="Calibri" panose="020F0502020204030204" pitchFamily="34" charset="-120"/>
              </a:rPr>
              <a:t>02 · REASON FOR SELECTION</a:t>
            </a:r>
            <a:endParaRPr lang="en-US" sz="1200" dirty="0"/>
          </a:p>
        </p:txBody>
      </p:sp>
      <p:sp>
        <p:nvSpPr>
          <p:cNvPr id="3" name="Text 1"/>
          <p:cNvSpPr txBox="1"/>
          <p:nvPr/>
        </p:nvSpPr>
        <p:spPr>
          <a:xfrm>
            <a:off x="548640" y="621792"/>
            <a:ext cx="10515600" cy="594360"/>
          </a:xfrm>
          <a:prstGeom prst="rect">
            <a:avLst/>
          </a:prstGeom>
          <a:noFill/>
        </p:spPr>
        <p:txBody>
          <a:bodyPr wrap="square" lIns="0" tIns="0" rIns="0" bIns="0" rtlCol="0" anchor="ctr"/>
          <a:lstStyle/>
          <a:p>
            <a:pPr marL="0" indent="0">
              <a:buNone/>
            </a:pPr>
            <a:r>
              <a:rPr lang="en-US" sz="2800" b="1" dirty="0">
                <a:solidFill>
                  <a:srgbClr val="2F3C7E"/>
                </a:solidFill>
                <a:latin typeface="Cambria" panose="02040503050406030204" pitchFamily="34" charset="0"/>
                <a:ea typeface="Cambria" panose="02040503050406030204" pitchFamily="34" charset="-122"/>
                <a:cs typeface="Cambria" panose="02040503050406030204" pitchFamily="34" charset="-120"/>
              </a:rPr>
              <a:t>Why Our Group Chose This Dataset</a:t>
            </a:r>
            <a:endParaRPr lang="en-US" sz="2800" dirty="0"/>
          </a:p>
        </p:txBody>
      </p:sp>
      <p:sp>
        <p:nvSpPr>
          <p:cNvPr id="4" name="Shape 2"/>
          <p:cNvSpPr/>
          <p:nvPr/>
        </p:nvSpPr>
        <p:spPr>
          <a:xfrm>
            <a:off x="548640" y="1417320"/>
            <a:ext cx="5349240" cy="2103120"/>
          </a:xfrm>
          <a:prstGeom prst="roundRect">
            <a:avLst>
              <a:gd name="adj" fmla="val 4348"/>
            </a:avLst>
          </a:prstGeom>
          <a:solidFill>
            <a:srgbClr val="FBEAEA"/>
          </a:solidFill>
        </p:spPr>
      </p:sp>
      <p:sp>
        <p:nvSpPr>
          <p:cNvPr id="5" name="Text 3"/>
          <p:cNvSpPr txBox="1"/>
          <p:nvPr/>
        </p:nvSpPr>
        <p:spPr>
          <a:xfrm>
            <a:off x="822960" y="1618488"/>
            <a:ext cx="4800600" cy="457200"/>
          </a:xfrm>
          <a:prstGeom prst="rect">
            <a:avLst/>
          </a:prstGeom>
          <a:noFill/>
        </p:spPr>
        <p:txBody>
          <a:bodyPr wrap="square" lIns="0" tIns="0" rIns="0" bIns="0" rtlCol="0" anchor="ctr"/>
          <a:lstStyle/>
          <a:p>
            <a:pPr marL="0" indent="0">
              <a:buNone/>
            </a:pPr>
            <a:r>
              <a:rPr lang="en-US" sz="1500" b="1" dirty="0">
                <a:solidFill>
                  <a:srgbClr val="2F3C7E"/>
                </a:solidFill>
                <a:latin typeface="Calibri" panose="020F0502020204030204" pitchFamily="34" charset="0"/>
                <a:ea typeface="Calibri" panose="020F0502020204030204" pitchFamily="34" charset="-122"/>
                <a:cs typeface="Calibri" panose="020F0502020204030204" pitchFamily="34" charset="-120"/>
              </a:rPr>
              <a:t>Real, messy survey data</a:t>
            </a:r>
            <a:endParaRPr lang="en-US" sz="1500" dirty="0"/>
          </a:p>
        </p:txBody>
      </p:sp>
      <p:sp>
        <p:nvSpPr>
          <p:cNvPr id="6" name="Text 4"/>
          <p:cNvSpPr txBox="1"/>
          <p:nvPr/>
        </p:nvSpPr>
        <p:spPr>
          <a:xfrm>
            <a:off x="822960" y="2103120"/>
            <a:ext cx="4800600" cy="1234440"/>
          </a:xfrm>
          <a:prstGeom prst="rect">
            <a:avLst/>
          </a:prstGeom>
          <a:noFill/>
        </p:spPr>
        <p:txBody>
          <a:bodyPr wrap="square" lIns="0" tIns="0" rIns="0" bIns="0" rtlCol="0" anchor="ctr"/>
          <a:lstStyle/>
          <a:p>
            <a:pPr marL="0" indent="0">
              <a:lnSpc>
                <a:spcPct val="120000"/>
              </a:lnSpc>
              <a:buNone/>
            </a:pPr>
            <a:r>
              <a:rPr lang="en-US" sz="1200" dirty="0">
                <a:solidFill>
                  <a:srgbClr val="3A3A45"/>
                </a:solidFill>
                <a:latin typeface="Calibri" panose="020F0502020204030204" pitchFamily="34" charset="0"/>
                <a:ea typeface="Calibri" panose="020F0502020204030204" pitchFamily="34" charset="-122"/>
                <a:cs typeface="Calibri" panose="020F0502020204030204" pitchFamily="34" charset="-120"/>
              </a:rPr>
              <a:t>It isn't pre-cleaned — it contains duplicate rows and a redundant column, giving us genuine cleaning and transformation work to do rather than a toy dataset.</a:t>
            </a:r>
            <a:endParaRPr lang="en-US" sz="1200" dirty="0"/>
          </a:p>
        </p:txBody>
      </p:sp>
      <p:sp>
        <p:nvSpPr>
          <p:cNvPr id="7" name="Shape 5"/>
          <p:cNvSpPr/>
          <p:nvPr/>
        </p:nvSpPr>
        <p:spPr>
          <a:xfrm>
            <a:off x="6172200" y="1417320"/>
            <a:ext cx="5349240" cy="2103120"/>
          </a:xfrm>
          <a:prstGeom prst="roundRect">
            <a:avLst>
              <a:gd name="adj" fmla="val 4348"/>
            </a:avLst>
          </a:prstGeom>
          <a:solidFill>
            <a:srgbClr val="FDF3D9"/>
          </a:solidFill>
        </p:spPr>
      </p:sp>
      <p:sp>
        <p:nvSpPr>
          <p:cNvPr id="8" name="Text 6"/>
          <p:cNvSpPr txBox="1"/>
          <p:nvPr/>
        </p:nvSpPr>
        <p:spPr>
          <a:xfrm>
            <a:off x="6446520" y="1618488"/>
            <a:ext cx="4800600" cy="457200"/>
          </a:xfrm>
          <a:prstGeom prst="rect">
            <a:avLst/>
          </a:prstGeom>
          <a:noFill/>
        </p:spPr>
        <p:txBody>
          <a:bodyPr wrap="square" lIns="0" tIns="0" rIns="0" bIns="0" rtlCol="0" anchor="ctr"/>
          <a:lstStyle/>
          <a:p>
            <a:pPr marL="0" indent="0">
              <a:buNone/>
            </a:pPr>
            <a:r>
              <a:rPr lang="en-US" sz="1500" b="1" dirty="0">
                <a:solidFill>
                  <a:srgbClr val="2F3C7E"/>
                </a:solidFill>
                <a:latin typeface="Calibri" panose="020F0502020204030204" pitchFamily="34" charset="0"/>
                <a:ea typeface="Calibri" panose="020F0502020204030204" pitchFamily="34" charset="-122"/>
                <a:cs typeface="Calibri" panose="020F0502020204030204" pitchFamily="34" charset="-120"/>
              </a:rPr>
              <a:t>A clear outcome to study</a:t>
            </a:r>
            <a:endParaRPr lang="en-US" sz="1500" dirty="0"/>
          </a:p>
        </p:txBody>
      </p:sp>
      <p:sp>
        <p:nvSpPr>
          <p:cNvPr id="9" name="Text 7"/>
          <p:cNvSpPr txBox="1"/>
          <p:nvPr/>
        </p:nvSpPr>
        <p:spPr>
          <a:xfrm>
            <a:off x="6446520" y="2103120"/>
            <a:ext cx="4800600" cy="1234440"/>
          </a:xfrm>
          <a:prstGeom prst="rect">
            <a:avLst/>
          </a:prstGeom>
          <a:noFill/>
        </p:spPr>
        <p:txBody>
          <a:bodyPr wrap="square" lIns="0" tIns="0" rIns="0" bIns="0" rtlCol="0" anchor="ctr"/>
          <a:lstStyle/>
          <a:p>
            <a:pPr marL="0" indent="0">
              <a:lnSpc>
                <a:spcPct val="120000"/>
              </a:lnSpc>
              <a:buNone/>
            </a:pPr>
            <a:r>
              <a:rPr lang="en-US" sz="1200" dirty="0">
                <a:solidFill>
                  <a:srgbClr val="3A3A45"/>
                </a:solidFill>
                <a:latin typeface="Calibri" panose="020F0502020204030204" pitchFamily="34" charset="0"/>
                <a:ea typeface="Calibri" panose="020F0502020204030204" pitchFamily="34" charset="-122"/>
                <a:cs typeface="Calibri" panose="020F0502020204030204" pitchFamily="34" charset="-120"/>
              </a:rPr>
              <a:t>The Output column (order placed or not) and Feedback column (positive/negative) give the analysis a natural focus: what patterns relate to a good or bad outcome.</a:t>
            </a:r>
            <a:endParaRPr lang="en-US" sz="1200" dirty="0"/>
          </a:p>
        </p:txBody>
      </p:sp>
      <p:sp>
        <p:nvSpPr>
          <p:cNvPr id="10" name="Shape 8"/>
          <p:cNvSpPr/>
          <p:nvPr/>
        </p:nvSpPr>
        <p:spPr>
          <a:xfrm>
            <a:off x="548640" y="3749040"/>
            <a:ext cx="5349240" cy="2103120"/>
          </a:xfrm>
          <a:prstGeom prst="roundRect">
            <a:avLst>
              <a:gd name="adj" fmla="val 4348"/>
            </a:avLst>
          </a:prstGeom>
          <a:solidFill>
            <a:srgbClr val="FBEAEA"/>
          </a:solidFill>
        </p:spPr>
      </p:sp>
      <p:sp>
        <p:nvSpPr>
          <p:cNvPr id="11" name="Text 9"/>
          <p:cNvSpPr txBox="1"/>
          <p:nvPr/>
        </p:nvSpPr>
        <p:spPr>
          <a:xfrm>
            <a:off x="822960" y="3950208"/>
            <a:ext cx="4800600" cy="457200"/>
          </a:xfrm>
          <a:prstGeom prst="rect">
            <a:avLst/>
          </a:prstGeom>
          <a:noFill/>
        </p:spPr>
        <p:txBody>
          <a:bodyPr wrap="square" lIns="0" tIns="0" rIns="0" bIns="0" rtlCol="0" anchor="ctr"/>
          <a:lstStyle/>
          <a:p>
            <a:pPr marL="0" indent="0">
              <a:buNone/>
            </a:pPr>
            <a:r>
              <a:rPr lang="en-US" sz="1500" b="1" dirty="0">
                <a:solidFill>
                  <a:srgbClr val="2F3C7E"/>
                </a:solidFill>
                <a:latin typeface="Calibri" panose="020F0502020204030204" pitchFamily="34" charset="0"/>
                <a:ea typeface="Calibri" panose="020F0502020204030204" pitchFamily="34" charset="-122"/>
                <a:cs typeface="Calibri" panose="020F0502020204030204" pitchFamily="34" charset="-120"/>
              </a:rPr>
              <a:t>Rich demographic mix</a:t>
            </a:r>
            <a:endParaRPr lang="en-US" sz="1500" dirty="0"/>
          </a:p>
        </p:txBody>
      </p:sp>
      <p:sp>
        <p:nvSpPr>
          <p:cNvPr id="12" name="Text 10"/>
          <p:cNvSpPr txBox="1"/>
          <p:nvPr/>
        </p:nvSpPr>
        <p:spPr>
          <a:xfrm>
            <a:off x="822960" y="4434840"/>
            <a:ext cx="4800600" cy="1234440"/>
          </a:xfrm>
          <a:prstGeom prst="rect">
            <a:avLst/>
          </a:prstGeom>
          <a:noFill/>
        </p:spPr>
        <p:txBody>
          <a:bodyPr wrap="square" lIns="0" tIns="0" rIns="0" bIns="0" rtlCol="0" anchor="ctr"/>
          <a:lstStyle/>
          <a:p>
            <a:pPr marL="0" indent="0">
              <a:lnSpc>
                <a:spcPct val="120000"/>
              </a:lnSpc>
              <a:buNone/>
            </a:pPr>
            <a:r>
              <a:rPr lang="en-US" sz="1200" dirty="0">
                <a:solidFill>
                  <a:srgbClr val="3A3A45"/>
                </a:solidFill>
                <a:latin typeface="Calibri" panose="020F0502020204030204" pitchFamily="34" charset="0"/>
                <a:ea typeface="Calibri" panose="020F0502020204030204" pitchFamily="34" charset="-122"/>
                <a:cs typeface="Calibri" panose="020F0502020204030204" pitchFamily="34" charset="-120"/>
              </a:rPr>
              <a:t>Age, income, occupation, education, marital status, and family size together let us slice the data many ways and compare groups against each other.</a:t>
            </a:r>
            <a:endParaRPr lang="en-US" sz="1200" dirty="0"/>
          </a:p>
        </p:txBody>
      </p:sp>
      <p:sp>
        <p:nvSpPr>
          <p:cNvPr id="13" name="Shape 11"/>
          <p:cNvSpPr/>
          <p:nvPr/>
        </p:nvSpPr>
        <p:spPr>
          <a:xfrm>
            <a:off x="6172200" y="3749040"/>
            <a:ext cx="5349240" cy="2103120"/>
          </a:xfrm>
          <a:prstGeom prst="roundRect">
            <a:avLst>
              <a:gd name="adj" fmla="val 4348"/>
            </a:avLst>
          </a:prstGeom>
          <a:solidFill>
            <a:srgbClr val="FDF3D9"/>
          </a:solidFill>
        </p:spPr>
      </p:sp>
      <p:sp>
        <p:nvSpPr>
          <p:cNvPr id="14" name="Text 12"/>
          <p:cNvSpPr txBox="1"/>
          <p:nvPr/>
        </p:nvSpPr>
        <p:spPr>
          <a:xfrm>
            <a:off x="6446520" y="3950208"/>
            <a:ext cx="4800600" cy="457200"/>
          </a:xfrm>
          <a:prstGeom prst="rect">
            <a:avLst/>
          </a:prstGeom>
          <a:noFill/>
        </p:spPr>
        <p:txBody>
          <a:bodyPr wrap="square" lIns="0" tIns="0" rIns="0" bIns="0" rtlCol="0" anchor="ctr"/>
          <a:lstStyle/>
          <a:p>
            <a:pPr marL="0" indent="0">
              <a:buNone/>
            </a:pPr>
            <a:r>
              <a:rPr lang="en-US" sz="1500" b="1" dirty="0">
                <a:solidFill>
                  <a:srgbClr val="2F3C7E"/>
                </a:solidFill>
                <a:latin typeface="Calibri" panose="020F0502020204030204" pitchFamily="34" charset="0"/>
                <a:ea typeface="Calibri" panose="020F0502020204030204" pitchFamily="34" charset="-122"/>
                <a:cs typeface="Calibri" panose="020F0502020204030204" pitchFamily="34" charset="-120"/>
              </a:rPr>
              <a:t>Right-sized for the timeline</a:t>
            </a:r>
            <a:endParaRPr lang="en-US" sz="1500" dirty="0"/>
          </a:p>
        </p:txBody>
      </p:sp>
      <p:sp>
        <p:nvSpPr>
          <p:cNvPr id="15" name="Text 13"/>
          <p:cNvSpPr txBox="1"/>
          <p:nvPr/>
        </p:nvSpPr>
        <p:spPr>
          <a:xfrm>
            <a:off x="6446520" y="4434840"/>
            <a:ext cx="4800600" cy="1234440"/>
          </a:xfrm>
          <a:prstGeom prst="rect">
            <a:avLst/>
          </a:prstGeom>
          <a:noFill/>
        </p:spPr>
        <p:txBody>
          <a:bodyPr wrap="square" lIns="0" tIns="0" rIns="0" bIns="0" rtlCol="0" anchor="ctr"/>
          <a:lstStyle/>
          <a:p>
            <a:pPr marL="0" indent="0">
              <a:lnSpc>
                <a:spcPct val="120000"/>
              </a:lnSpc>
              <a:buNone/>
            </a:pPr>
            <a:r>
              <a:rPr lang="en-US" sz="1200" dirty="0">
                <a:solidFill>
                  <a:srgbClr val="3A3A45"/>
                </a:solidFill>
                <a:latin typeface="Calibri" panose="020F0502020204030204" pitchFamily="34" charset="0"/>
                <a:ea typeface="Calibri" panose="020F0502020204030204" pitchFamily="34" charset="-122"/>
                <a:cs typeface="Calibri" panose="020F0502020204030204" pitchFamily="34" charset="-120"/>
              </a:rPr>
              <a:t>At under 400 rows and 14 columns, it's large enough to show real patterns but small enough to clean, transform, and visualize thoroughly within the project schedule.</a:t>
            </a:r>
            <a:endParaRPr lang="en-US" sz="1200" dirty="0"/>
          </a:p>
        </p:txBody>
      </p:sp>
      <p:pic>
        <p:nvPicPr>
          <p:cNvPr id="16" name="Picture 15" descr="ic_database.png"/>
          <p:cNvPicPr>
            <a:picLocks noChangeAspect="1"/>
          </p:cNvPicPr>
          <p:nvPr/>
        </p:nvPicPr>
        <p:blipFill>
          <a:blip r:embed="rId1"/>
          <a:stretch>
            <a:fillRect/>
          </a:stretch>
        </p:blipFill>
        <p:spPr>
          <a:xfrm>
            <a:off x="5212080" y="1645920"/>
            <a:ext cx="457200" cy="457200"/>
          </a:xfrm>
          <a:prstGeom prst="rect">
            <a:avLst/>
          </a:prstGeom>
        </p:spPr>
      </p:pic>
      <p:pic>
        <p:nvPicPr>
          <p:cNvPr id="17" name="Picture 16" descr="ic_target.png"/>
          <p:cNvPicPr>
            <a:picLocks noChangeAspect="1"/>
          </p:cNvPicPr>
          <p:nvPr/>
        </p:nvPicPr>
        <p:blipFill>
          <a:blip r:embed="rId2"/>
          <a:stretch>
            <a:fillRect/>
          </a:stretch>
        </p:blipFill>
        <p:spPr>
          <a:xfrm>
            <a:off x="10835640" y="1645920"/>
            <a:ext cx="457200" cy="457200"/>
          </a:xfrm>
          <a:prstGeom prst="rect">
            <a:avLst/>
          </a:prstGeom>
        </p:spPr>
      </p:pic>
      <p:pic>
        <p:nvPicPr>
          <p:cNvPr id="18" name="Picture 17" descr="ic_users.png"/>
          <p:cNvPicPr>
            <a:picLocks noChangeAspect="1"/>
          </p:cNvPicPr>
          <p:nvPr/>
        </p:nvPicPr>
        <p:blipFill>
          <a:blip r:embed="rId3"/>
          <a:stretch>
            <a:fillRect/>
          </a:stretch>
        </p:blipFill>
        <p:spPr>
          <a:xfrm>
            <a:off x="5212080" y="3977640"/>
            <a:ext cx="457200" cy="457200"/>
          </a:xfrm>
          <a:prstGeom prst="rect">
            <a:avLst/>
          </a:prstGeom>
        </p:spPr>
      </p:pic>
      <p:pic>
        <p:nvPicPr>
          <p:cNvPr id="19" name="Picture 18" descr="ic_clock.png"/>
          <p:cNvPicPr>
            <a:picLocks noChangeAspect="1"/>
          </p:cNvPicPr>
          <p:nvPr/>
        </p:nvPicPr>
        <p:blipFill>
          <a:blip r:embed="rId4"/>
          <a:stretch>
            <a:fillRect/>
          </a:stretch>
        </p:blipFill>
        <p:spPr>
          <a:xfrm>
            <a:off x="10835640" y="3977640"/>
            <a:ext cx="4572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F3C7E"/>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6167"/>
                </a:solidFill>
                <a:latin typeface="Calibri" panose="020F0502020204030204" pitchFamily="34" charset="0"/>
                <a:ea typeface="Calibri" panose="020F0502020204030204" pitchFamily="34" charset="-122"/>
                <a:cs typeface="Calibri" panose="020F0502020204030204" pitchFamily="34" charset="-120"/>
              </a:rPr>
              <a:t>03 · DATASET SOURCE &amp; LINK</a:t>
            </a:r>
            <a:endParaRPr lang="en-US" sz="1200" dirty="0"/>
          </a:p>
        </p:txBody>
      </p:sp>
      <p:sp>
        <p:nvSpPr>
          <p:cNvPr id="3" name="Text 1"/>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E795"/>
                </a:solidFill>
                <a:latin typeface="Calibri" panose="020F0502020204030204" pitchFamily="34" charset="0"/>
                <a:ea typeface="Calibri" panose="020F0502020204030204" pitchFamily="34" charset="-122"/>
                <a:cs typeface="Calibri" panose="020F0502020204030204" pitchFamily="34" charset="-120"/>
              </a:rPr>
              <a:t>03 · DATASET SOURCE &amp; LINK</a:t>
            </a:r>
            <a:endParaRPr lang="en-US" sz="1200" dirty="0"/>
          </a:p>
        </p:txBody>
      </p:sp>
      <p:sp>
        <p:nvSpPr>
          <p:cNvPr id="4" name="Text 2"/>
          <p:cNvSpPr txBox="1"/>
          <p:nvPr/>
        </p:nvSpPr>
        <p:spPr>
          <a:xfrm>
            <a:off x="548640" y="621792"/>
            <a:ext cx="10515600" cy="594360"/>
          </a:xfrm>
          <a:prstGeom prst="rect">
            <a:avLst/>
          </a:prstGeom>
          <a:noFill/>
        </p:spPr>
        <p:txBody>
          <a:bodyPr wrap="square" lIns="0" tIns="0" rIns="0" bIns="0"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Where the Data Came From</a:t>
            </a:r>
            <a:endParaRPr lang="en-US" sz="2800" dirty="0"/>
          </a:p>
        </p:txBody>
      </p:sp>
      <p:sp>
        <p:nvSpPr>
          <p:cNvPr id="5" name="Shape 3"/>
          <p:cNvSpPr/>
          <p:nvPr/>
        </p:nvSpPr>
        <p:spPr>
          <a:xfrm>
            <a:off x="548640" y="1645920"/>
            <a:ext cx="10881360" cy="4206240"/>
          </a:xfrm>
          <a:prstGeom prst="roundRect">
            <a:avLst>
              <a:gd name="adj" fmla="val 2609"/>
            </a:avLst>
          </a:prstGeom>
          <a:solidFill>
            <a:srgbClr val="31285A"/>
          </a:solidFill>
        </p:spPr>
      </p:sp>
      <p:sp>
        <p:nvSpPr>
          <p:cNvPr id="6" name="Text 4"/>
          <p:cNvSpPr txBox="1"/>
          <p:nvPr/>
        </p:nvSpPr>
        <p:spPr>
          <a:xfrm>
            <a:off x="914400" y="1965960"/>
            <a:ext cx="2743200" cy="457200"/>
          </a:xfrm>
          <a:prstGeom prst="rect">
            <a:avLst/>
          </a:prstGeom>
          <a:noFill/>
        </p:spPr>
        <p:txBody>
          <a:bodyPr wrap="square" lIns="0" tIns="0" rIns="0" bIns="0" rtlCol="0" anchor="ctr"/>
          <a:lstStyle/>
          <a:p>
            <a:pPr marL="0" indent="0">
              <a:buNone/>
            </a:pPr>
            <a:r>
              <a:rPr lang="en-US" sz="1200" b="1" kern="0" spc="100" dirty="0">
                <a:solidFill>
                  <a:srgbClr val="F9E795"/>
                </a:solidFill>
                <a:latin typeface="Calibri" panose="020F0502020204030204" pitchFamily="34" charset="0"/>
                <a:ea typeface="Calibri" panose="020F0502020204030204" pitchFamily="34" charset="-122"/>
                <a:cs typeface="Calibri" panose="020F0502020204030204" pitchFamily="34" charset="-120"/>
              </a:rPr>
              <a:t>PLATFORM</a:t>
            </a:r>
            <a:endParaRPr lang="en-US" sz="1200" dirty="0"/>
          </a:p>
        </p:txBody>
      </p:sp>
      <p:sp>
        <p:nvSpPr>
          <p:cNvPr id="7" name="Text 5"/>
          <p:cNvSpPr txBox="1"/>
          <p:nvPr/>
        </p:nvSpPr>
        <p:spPr>
          <a:xfrm>
            <a:off x="3749040" y="1965960"/>
            <a:ext cx="7406640" cy="457200"/>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Kaggle</a:t>
            </a:r>
            <a:endParaRPr lang="en-US" sz="1400" dirty="0"/>
          </a:p>
        </p:txBody>
      </p:sp>
      <p:sp>
        <p:nvSpPr>
          <p:cNvPr id="8" name="Text 6"/>
          <p:cNvSpPr txBox="1"/>
          <p:nvPr/>
        </p:nvSpPr>
        <p:spPr>
          <a:xfrm>
            <a:off x="914400" y="2679192"/>
            <a:ext cx="2743200" cy="457200"/>
          </a:xfrm>
          <a:prstGeom prst="rect">
            <a:avLst/>
          </a:prstGeom>
          <a:noFill/>
        </p:spPr>
        <p:txBody>
          <a:bodyPr wrap="square" lIns="0" tIns="0" rIns="0" bIns="0" rtlCol="0" anchor="ctr"/>
          <a:lstStyle/>
          <a:p>
            <a:pPr marL="0" indent="0">
              <a:buNone/>
            </a:pPr>
            <a:r>
              <a:rPr lang="en-US" sz="1200" b="1" kern="0" spc="100" dirty="0">
                <a:solidFill>
                  <a:srgbClr val="F9E795"/>
                </a:solidFill>
                <a:latin typeface="Calibri" panose="020F0502020204030204" pitchFamily="34" charset="0"/>
                <a:ea typeface="Calibri" panose="020F0502020204030204" pitchFamily="34" charset="-122"/>
                <a:cs typeface="Calibri" panose="020F0502020204030204" pitchFamily="34" charset="-120"/>
              </a:rPr>
              <a:t>DATASET TITLE</a:t>
            </a:r>
            <a:endParaRPr lang="en-US" sz="1200" dirty="0"/>
          </a:p>
        </p:txBody>
      </p:sp>
      <p:sp>
        <p:nvSpPr>
          <p:cNvPr id="9" name="Text 7"/>
          <p:cNvSpPr txBox="1"/>
          <p:nvPr/>
        </p:nvSpPr>
        <p:spPr>
          <a:xfrm>
            <a:off x="3749040" y="2679192"/>
            <a:ext cx="7406640" cy="457200"/>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Online Food Dataset</a:t>
            </a:r>
            <a:endParaRPr lang="en-US" sz="1400" dirty="0"/>
          </a:p>
        </p:txBody>
      </p:sp>
      <p:sp>
        <p:nvSpPr>
          <p:cNvPr id="10" name="Text 8"/>
          <p:cNvSpPr txBox="1"/>
          <p:nvPr/>
        </p:nvSpPr>
        <p:spPr>
          <a:xfrm>
            <a:off x="914400" y="3392424"/>
            <a:ext cx="2743200" cy="457200"/>
          </a:xfrm>
          <a:prstGeom prst="rect">
            <a:avLst/>
          </a:prstGeom>
          <a:noFill/>
        </p:spPr>
        <p:txBody>
          <a:bodyPr wrap="square" lIns="0" tIns="0" rIns="0" bIns="0" rtlCol="0" anchor="ctr"/>
          <a:lstStyle/>
          <a:p>
            <a:pPr marL="0" indent="0">
              <a:buNone/>
            </a:pPr>
            <a:r>
              <a:rPr lang="en-US" sz="1200" b="1" kern="0" spc="100" dirty="0">
                <a:solidFill>
                  <a:srgbClr val="F9E795"/>
                </a:solidFill>
                <a:latin typeface="Calibri" panose="020F0502020204030204" pitchFamily="34" charset="0"/>
                <a:ea typeface="Calibri" panose="020F0502020204030204" pitchFamily="34" charset="-122"/>
                <a:cs typeface="Calibri" panose="020F0502020204030204" pitchFamily="34" charset="-120"/>
              </a:rPr>
              <a:t>UPLOADED BY</a:t>
            </a:r>
            <a:endParaRPr lang="en-US" sz="1200" dirty="0"/>
          </a:p>
        </p:txBody>
      </p:sp>
      <p:sp>
        <p:nvSpPr>
          <p:cNvPr id="11" name="Text 9"/>
          <p:cNvSpPr txBox="1"/>
          <p:nvPr/>
        </p:nvSpPr>
        <p:spPr>
          <a:xfrm>
            <a:off x="3749040" y="3392424"/>
            <a:ext cx="7406640" cy="457200"/>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sudarshan24byte</a:t>
            </a:r>
            <a:endParaRPr lang="en-US" sz="1400" dirty="0"/>
          </a:p>
        </p:txBody>
      </p:sp>
      <p:sp>
        <p:nvSpPr>
          <p:cNvPr id="12" name="Text 10"/>
          <p:cNvSpPr txBox="1"/>
          <p:nvPr/>
        </p:nvSpPr>
        <p:spPr>
          <a:xfrm>
            <a:off x="914400" y="4105656"/>
            <a:ext cx="2743200" cy="457200"/>
          </a:xfrm>
          <a:prstGeom prst="rect">
            <a:avLst/>
          </a:prstGeom>
          <a:noFill/>
        </p:spPr>
        <p:txBody>
          <a:bodyPr wrap="square" lIns="0" tIns="0" rIns="0" bIns="0" rtlCol="0" anchor="ctr"/>
          <a:lstStyle/>
          <a:p>
            <a:pPr marL="0" indent="0">
              <a:buNone/>
            </a:pPr>
            <a:r>
              <a:rPr lang="en-US" sz="1200" b="1" kern="0" spc="100" dirty="0">
                <a:solidFill>
                  <a:srgbClr val="F9E795"/>
                </a:solidFill>
                <a:latin typeface="Calibri" panose="020F0502020204030204" pitchFamily="34" charset="0"/>
                <a:ea typeface="Calibri" panose="020F0502020204030204" pitchFamily="34" charset="-122"/>
                <a:cs typeface="Calibri" panose="020F0502020204030204" pitchFamily="34" charset="-120"/>
              </a:rPr>
              <a:t>LINK</a:t>
            </a:r>
            <a:endParaRPr lang="en-US" sz="1200" dirty="0"/>
          </a:p>
        </p:txBody>
      </p:sp>
      <p:sp>
        <p:nvSpPr>
          <p:cNvPr id="13" name="Text 11"/>
          <p:cNvSpPr txBox="1"/>
          <p:nvPr/>
        </p:nvSpPr>
        <p:spPr>
          <a:xfrm>
            <a:off x="3749040" y="4105656"/>
            <a:ext cx="7406640" cy="457200"/>
          </a:xfrm>
          <a:prstGeom prst="rect">
            <a:avLst/>
          </a:prstGeom>
          <a:noFill/>
        </p:spPr>
        <p:txBody>
          <a:bodyPr wrap="square" lIns="0" tIns="0" rIns="0" bIns="0" rtlCol="0" anchor="ctr"/>
          <a:lstStyle/>
          <a:p>
            <a:pPr marL="0" indent="0">
              <a:buNone/>
            </a:pPr>
            <a:r>
              <a:rPr lang="en-US" altLang="en-US" sz="1600" dirty="0">
                <a:solidFill>
                  <a:schemeClr val="bg1"/>
                </a:solidFill>
              </a:rPr>
              <a:t>https://www.kaggle.com/datasets/srisyra02/online-food-ordering-dataset</a:t>
            </a:r>
            <a:endParaRPr lang="en-US" altLang="en-US" sz="1600" dirty="0">
              <a:solidFill>
                <a:schemeClr val="bg1"/>
              </a:solidFill>
            </a:endParaRPr>
          </a:p>
        </p:txBody>
      </p:sp>
      <p:sp>
        <p:nvSpPr>
          <p:cNvPr id="14" name="Text 12"/>
          <p:cNvSpPr txBox="1"/>
          <p:nvPr/>
        </p:nvSpPr>
        <p:spPr>
          <a:xfrm>
            <a:off x="914400" y="4818888"/>
            <a:ext cx="2743200" cy="457200"/>
          </a:xfrm>
          <a:prstGeom prst="rect">
            <a:avLst/>
          </a:prstGeom>
          <a:noFill/>
        </p:spPr>
        <p:txBody>
          <a:bodyPr wrap="square" lIns="0" tIns="0" rIns="0" bIns="0" rtlCol="0" anchor="ctr"/>
          <a:lstStyle/>
          <a:p>
            <a:pPr marL="0" indent="0">
              <a:buNone/>
            </a:pPr>
            <a:r>
              <a:rPr lang="en-US" sz="1200" b="1" kern="0" spc="100" dirty="0">
                <a:solidFill>
                  <a:srgbClr val="F9E795"/>
                </a:solidFill>
                <a:latin typeface="Calibri" panose="020F0502020204030204" pitchFamily="34" charset="0"/>
                <a:ea typeface="Calibri" panose="020F0502020204030204" pitchFamily="34" charset="-122"/>
                <a:cs typeface="Calibri" panose="020F0502020204030204" pitchFamily="34" charset="-120"/>
              </a:rPr>
              <a:t>LICENSE / ACCESS</a:t>
            </a:r>
            <a:endParaRPr lang="en-US" sz="1200" dirty="0"/>
          </a:p>
        </p:txBody>
      </p:sp>
      <p:sp>
        <p:nvSpPr>
          <p:cNvPr id="15" name="Text 13"/>
          <p:cNvSpPr txBox="1"/>
          <p:nvPr/>
        </p:nvSpPr>
        <p:spPr>
          <a:xfrm>
            <a:off x="3749040" y="4818888"/>
            <a:ext cx="7406640" cy="457200"/>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Publicly available for download on Kaggle</a:t>
            </a:r>
            <a:endParaRPr lang="en-US" sz="1400" dirty="0"/>
          </a:p>
        </p:txBody>
      </p:sp>
      <p:sp>
        <p:nvSpPr>
          <p:cNvPr id="16" name="Text 14"/>
          <p:cNvSpPr txBox="1"/>
          <p:nvPr/>
        </p:nvSpPr>
        <p:spPr>
          <a:xfrm>
            <a:off x="548640" y="5989320"/>
            <a:ext cx="11064240" cy="457200"/>
          </a:xfrm>
          <a:prstGeom prst="rect">
            <a:avLst/>
          </a:prstGeom>
          <a:noFill/>
        </p:spPr>
        <p:txBody>
          <a:bodyPr wrap="square" lIns="0" tIns="0" rIns="0" bIns="0" rtlCol="0" anchor="ctr"/>
          <a:lstStyle/>
          <a:p>
            <a:pPr marL="0" indent="0">
              <a:buNone/>
            </a:pPr>
            <a:r>
              <a:rPr lang="en-US" sz="1150" i="1" dirty="0">
                <a:solidFill>
                  <a:srgbClr val="CFCBE0"/>
                </a:solidFill>
                <a:latin typeface="Calibri" panose="020F0502020204030204" pitchFamily="34" charset="0"/>
                <a:ea typeface="Calibri" panose="020F0502020204030204" pitchFamily="34" charset="-122"/>
                <a:cs typeface="Calibri" panose="020F0502020204030204" pitchFamily="34" charset="-120"/>
              </a:rPr>
              <a:t>Note: the raw CSV is not included in this submission ZIP (per submission guidelines) — it can be downloaded directly from the link above. The full reference is also recorded in source.txt.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6167"/>
                </a:solidFill>
                <a:latin typeface="Calibri" panose="020F0502020204030204" pitchFamily="34" charset="0"/>
                <a:ea typeface="Calibri" panose="020F0502020204030204" pitchFamily="34" charset="-122"/>
                <a:cs typeface="Calibri" panose="020F0502020204030204" pitchFamily="34" charset="-120"/>
              </a:rPr>
              <a:t>04 · DATA CLEANING PERFORMED</a:t>
            </a:r>
            <a:endParaRPr lang="en-US" sz="1200" dirty="0"/>
          </a:p>
        </p:txBody>
      </p:sp>
      <p:sp>
        <p:nvSpPr>
          <p:cNvPr id="3" name="Text 1"/>
          <p:cNvSpPr txBox="1"/>
          <p:nvPr/>
        </p:nvSpPr>
        <p:spPr>
          <a:xfrm>
            <a:off x="548640" y="621792"/>
            <a:ext cx="10515600" cy="594360"/>
          </a:xfrm>
          <a:prstGeom prst="rect">
            <a:avLst/>
          </a:prstGeom>
          <a:noFill/>
        </p:spPr>
        <p:txBody>
          <a:bodyPr wrap="square" lIns="0" tIns="0" rIns="0" bIns="0" rtlCol="0" anchor="ctr"/>
          <a:lstStyle/>
          <a:p>
            <a:pPr marL="0" indent="0">
              <a:buNone/>
            </a:pPr>
            <a:r>
              <a:rPr lang="en-US" sz="2800" b="1" dirty="0">
                <a:solidFill>
                  <a:srgbClr val="2F3C7E"/>
                </a:solidFill>
                <a:latin typeface="Cambria" panose="02040503050406030204" pitchFamily="34" charset="0"/>
                <a:ea typeface="Cambria" panose="02040503050406030204" pitchFamily="34" charset="-122"/>
                <a:cs typeface="Cambria" panose="02040503050406030204" pitchFamily="34" charset="-120"/>
              </a:rPr>
              <a:t>Cleaning the Raw Data</a:t>
            </a:r>
            <a:endParaRPr lang="en-US" sz="2800" dirty="0"/>
          </a:p>
        </p:txBody>
      </p:sp>
      <p:sp>
        <p:nvSpPr>
          <p:cNvPr id="4" name="Shape 2"/>
          <p:cNvSpPr/>
          <p:nvPr/>
        </p:nvSpPr>
        <p:spPr>
          <a:xfrm>
            <a:off x="548640" y="1417320"/>
            <a:ext cx="3520440" cy="4160520"/>
          </a:xfrm>
          <a:prstGeom prst="roundRect">
            <a:avLst>
              <a:gd name="adj" fmla="val 2597"/>
            </a:avLst>
          </a:prstGeom>
          <a:solidFill>
            <a:srgbClr val="FBEAEA"/>
          </a:solidFill>
        </p:spPr>
      </p:sp>
      <p:sp>
        <p:nvSpPr>
          <p:cNvPr id="5" name="Shape 3"/>
          <p:cNvSpPr/>
          <p:nvPr/>
        </p:nvSpPr>
        <p:spPr>
          <a:xfrm>
            <a:off x="777240" y="1691640"/>
            <a:ext cx="548640" cy="548640"/>
          </a:xfrm>
          <a:prstGeom prst="ellipse">
            <a:avLst/>
          </a:prstGeom>
          <a:solidFill>
            <a:srgbClr val="F96167"/>
          </a:solidFill>
        </p:spPr>
      </p:sp>
      <p:sp>
        <p:nvSpPr>
          <p:cNvPr id="6" name="Text 4"/>
          <p:cNvSpPr txBox="1"/>
          <p:nvPr/>
        </p:nvSpPr>
        <p:spPr>
          <a:xfrm>
            <a:off x="777240" y="1691640"/>
            <a:ext cx="548640" cy="54864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2000" dirty="0"/>
          </a:p>
        </p:txBody>
      </p:sp>
      <p:sp>
        <p:nvSpPr>
          <p:cNvPr id="7" name="Text 5"/>
          <p:cNvSpPr txBox="1"/>
          <p:nvPr/>
        </p:nvSpPr>
        <p:spPr>
          <a:xfrm>
            <a:off x="777240" y="2423160"/>
            <a:ext cx="3063240" cy="640080"/>
          </a:xfrm>
          <a:prstGeom prst="rect">
            <a:avLst/>
          </a:prstGeom>
          <a:noFill/>
        </p:spPr>
        <p:txBody>
          <a:bodyPr wrap="square" lIns="0" tIns="0" rIns="0" bIns="0" rtlCol="0" anchor="ctr"/>
          <a:lstStyle/>
          <a:p>
            <a:pPr marL="0" indent="0">
              <a:buNone/>
            </a:pPr>
            <a:r>
              <a:rPr lang="en-US" sz="1450" b="1" dirty="0">
                <a:solidFill>
                  <a:srgbClr val="2F3C7E"/>
                </a:solidFill>
                <a:latin typeface="Calibri" panose="020F0502020204030204" pitchFamily="34" charset="0"/>
                <a:ea typeface="Calibri" panose="020F0502020204030204" pitchFamily="34" charset="-122"/>
                <a:cs typeface="Calibri" panose="020F0502020204030204" pitchFamily="34" charset="-120"/>
              </a:rPr>
              <a:t>Missing value check</a:t>
            </a:r>
            <a:endParaRPr lang="en-US" sz="1450" dirty="0"/>
          </a:p>
        </p:txBody>
      </p:sp>
      <p:sp>
        <p:nvSpPr>
          <p:cNvPr id="8" name="Text 6"/>
          <p:cNvSpPr txBox="1"/>
          <p:nvPr/>
        </p:nvSpPr>
        <p:spPr>
          <a:xfrm>
            <a:off x="777240" y="3063240"/>
            <a:ext cx="3063240" cy="2423160"/>
          </a:xfrm>
          <a:prstGeom prst="rect">
            <a:avLst/>
          </a:prstGeom>
          <a:noFill/>
        </p:spPr>
        <p:txBody>
          <a:bodyPr wrap="square" lIns="0" tIns="0" rIns="0" bIns="0" rtlCol="0" anchor="ctr"/>
          <a:lstStyle/>
          <a:p>
            <a:pPr marL="0" indent="0">
              <a:lnSpc>
                <a:spcPct val="120000"/>
              </a:lnSpc>
              <a:buNone/>
            </a:pPr>
            <a:r>
              <a:rPr lang="en-US" sz="1150" dirty="0">
                <a:solidFill>
                  <a:srgbClr val="3A3A45"/>
                </a:solidFill>
                <a:latin typeface="Calibri" panose="020F0502020204030204" pitchFamily="34" charset="0"/>
                <a:ea typeface="Calibri" panose="020F0502020204030204" pitchFamily="34" charset="-122"/>
                <a:cs typeface="Calibri" panose="020F0502020204030204" pitchFamily="34" charset="-120"/>
              </a:rPr>
              <a:t>Ran a null check across all 14 columns using df.isnull().sum(). Result: 0 missing values — but the notebook still includes automatic mean (numeric) / mode (categorical) filling in case the data source is ever refreshed with gaps.</a:t>
            </a:r>
            <a:endParaRPr lang="en-US" sz="1150" dirty="0"/>
          </a:p>
        </p:txBody>
      </p:sp>
      <p:sp>
        <p:nvSpPr>
          <p:cNvPr id="9" name="Shape 7"/>
          <p:cNvSpPr/>
          <p:nvPr/>
        </p:nvSpPr>
        <p:spPr>
          <a:xfrm>
            <a:off x="4297680" y="1417320"/>
            <a:ext cx="3520440" cy="4160520"/>
          </a:xfrm>
          <a:prstGeom prst="roundRect">
            <a:avLst>
              <a:gd name="adj" fmla="val 2597"/>
            </a:avLst>
          </a:prstGeom>
          <a:solidFill>
            <a:srgbClr val="FDF3D9"/>
          </a:solidFill>
        </p:spPr>
      </p:sp>
      <p:sp>
        <p:nvSpPr>
          <p:cNvPr id="10" name="Shape 8"/>
          <p:cNvSpPr/>
          <p:nvPr/>
        </p:nvSpPr>
        <p:spPr>
          <a:xfrm>
            <a:off x="4526280" y="1691640"/>
            <a:ext cx="548640" cy="548640"/>
          </a:xfrm>
          <a:prstGeom prst="ellipse">
            <a:avLst/>
          </a:prstGeom>
          <a:solidFill>
            <a:srgbClr val="2F3C7E"/>
          </a:solidFill>
        </p:spPr>
      </p:sp>
      <p:sp>
        <p:nvSpPr>
          <p:cNvPr id="11" name="Text 9"/>
          <p:cNvSpPr txBox="1"/>
          <p:nvPr/>
        </p:nvSpPr>
        <p:spPr>
          <a:xfrm>
            <a:off x="4526280" y="1691640"/>
            <a:ext cx="548640" cy="54864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2000" dirty="0"/>
          </a:p>
        </p:txBody>
      </p:sp>
      <p:sp>
        <p:nvSpPr>
          <p:cNvPr id="12" name="Text 10"/>
          <p:cNvSpPr txBox="1"/>
          <p:nvPr/>
        </p:nvSpPr>
        <p:spPr>
          <a:xfrm>
            <a:off x="4526280" y="2423160"/>
            <a:ext cx="3063240" cy="640080"/>
          </a:xfrm>
          <a:prstGeom prst="rect">
            <a:avLst/>
          </a:prstGeom>
          <a:noFill/>
        </p:spPr>
        <p:txBody>
          <a:bodyPr wrap="square" lIns="0" tIns="0" rIns="0" bIns="0" rtlCol="0" anchor="ctr"/>
          <a:lstStyle/>
          <a:p>
            <a:pPr marL="0" indent="0">
              <a:buNone/>
            </a:pPr>
            <a:r>
              <a:rPr lang="en-US" sz="1450" b="1" dirty="0">
                <a:solidFill>
                  <a:srgbClr val="2F3C7E"/>
                </a:solidFill>
                <a:latin typeface="Calibri" panose="020F0502020204030204" pitchFamily="34" charset="0"/>
                <a:ea typeface="Calibri" panose="020F0502020204030204" pitchFamily="34" charset="-122"/>
                <a:cs typeface="Calibri" panose="020F0502020204030204" pitchFamily="34" charset="-120"/>
              </a:rPr>
              <a:t>Duplicate rows</a:t>
            </a:r>
            <a:endParaRPr lang="en-US" sz="1450" dirty="0"/>
          </a:p>
        </p:txBody>
      </p:sp>
      <p:sp>
        <p:nvSpPr>
          <p:cNvPr id="13" name="Text 11"/>
          <p:cNvSpPr txBox="1"/>
          <p:nvPr/>
        </p:nvSpPr>
        <p:spPr>
          <a:xfrm>
            <a:off x="4526280" y="3063240"/>
            <a:ext cx="3063240" cy="2423160"/>
          </a:xfrm>
          <a:prstGeom prst="rect">
            <a:avLst/>
          </a:prstGeom>
          <a:noFill/>
        </p:spPr>
        <p:txBody>
          <a:bodyPr wrap="square" lIns="0" tIns="0" rIns="0" bIns="0" rtlCol="0" anchor="ctr"/>
          <a:lstStyle/>
          <a:p>
            <a:pPr marL="0" indent="0">
              <a:lnSpc>
                <a:spcPct val="120000"/>
              </a:lnSpc>
              <a:buNone/>
            </a:pPr>
            <a:r>
              <a:rPr lang="en-US" sz="1150" dirty="0">
                <a:solidFill>
                  <a:srgbClr val="3A3A45"/>
                </a:solidFill>
                <a:latin typeface="Calibri" panose="020F0502020204030204" pitchFamily="34" charset="0"/>
                <a:ea typeface="Calibri" panose="020F0502020204030204" pitchFamily="34" charset="-122"/>
                <a:cs typeface="Calibri" panose="020F0502020204030204" pitchFamily="34" charset="-120"/>
              </a:rPr>
              <a:t>Ran df.duplicated().sum() and found 103 exact duplicate rows out of 388 (26.5%). These were removed with drop_duplicates(), leaving 285 unique respondent records.</a:t>
            </a:r>
            <a:endParaRPr lang="en-US" sz="1150" dirty="0"/>
          </a:p>
        </p:txBody>
      </p:sp>
      <p:sp>
        <p:nvSpPr>
          <p:cNvPr id="14" name="Shape 12"/>
          <p:cNvSpPr/>
          <p:nvPr/>
        </p:nvSpPr>
        <p:spPr>
          <a:xfrm>
            <a:off x="8046720" y="1417320"/>
            <a:ext cx="3520440" cy="4160520"/>
          </a:xfrm>
          <a:prstGeom prst="roundRect">
            <a:avLst>
              <a:gd name="adj" fmla="val 2597"/>
            </a:avLst>
          </a:prstGeom>
          <a:solidFill>
            <a:srgbClr val="FBEAEA"/>
          </a:solidFill>
        </p:spPr>
      </p:sp>
      <p:sp>
        <p:nvSpPr>
          <p:cNvPr id="15" name="Shape 13"/>
          <p:cNvSpPr/>
          <p:nvPr/>
        </p:nvSpPr>
        <p:spPr>
          <a:xfrm>
            <a:off x="8275320" y="1691640"/>
            <a:ext cx="548640" cy="548640"/>
          </a:xfrm>
          <a:prstGeom prst="ellipse">
            <a:avLst/>
          </a:prstGeom>
          <a:solidFill>
            <a:srgbClr val="F96167"/>
          </a:solidFill>
        </p:spPr>
      </p:sp>
      <p:sp>
        <p:nvSpPr>
          <p:cNvPr id="16" name="Text 14"/>
          <p:cNvSpPr txBox="1"/>
          <p:nvPr/>
        </p:nvSpPr>
        <p:spPr>
          <a:xfrm>
            <a:off x="8275320" y="1691640"/>
            <a:ext cx="548640" cy="54864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2000" dirty="0"/>
          </a:p>
        </p:txBody>
      </p:sp>
      <p:sp>
        <p:nvSpPr>
          <p:cNvPr id="17" name="Text 15"/>
          <p:cNvSpPr txBox="1"/>
          <p:nvPr/>
        </p:nvSpPr>
        <p:spPr>
          <a:xfrm>
            <a:off x="8275320" y="2423160"/>
            <a:ext cx="3063240" cy="640080"/>
          </a:xfrm>
          <a:prstGeom prst="rect">
            <a:avLst/>
          </a:prstGeom>
          <a:noFill/>
        </p:spPr>
        <p:txBody>
          <a:bodyPr wrap="square" lIns="0" tIns="0" rIns="0" bIns="0" rtlCol="0" anchor="ctr"/>
          <a:lstStyle/>
          <a:p>
            <a:pPr marL="0" indent="0">
              <a:buNone/>
            </a:pPr>
            <a:r>
              <a:rPr lang="en-US" sz="1450" b="1" dirty="0">
                <a:solidFill>
                  <a:srgbClr val="2F3C7E"/>
                </a:solidFill>
                <a:latin typeface="Calibri" panose="020F0502020204030204" pitchFamily="34" charset="0"/>
                <a:ea typeface="Calibri" panose="020F0502020204030204" pitchFamily="34" charset="-122"/>
                <a:cs typeface="Calibri" panose="020F0502020204030204" pitchFamily="34" charset="-120"/>
              </a:rPr>
              <a:t>Redundant column</a:t>
            </a:r>
            <a:endParaRPr lang="en-US" sz="1450" dirty="0"/>
          </a:p>
        </p:txBody>
      </p:sp>
      <p:sp>
        <p:nvSpPr>
          <p:cNvPr id="18" name="Text 16"/>
          <p:cNvSpPr txBox="1"/>
          <p:nvPr/>
        </p:nvSpPr>
        <p:spPr>
          <a:xfrm>
            <a:off x="8275320" y="3063240"/>
            <a:ext cx="3063240" cy="2423160"/>
          </a:xfrm>
          <a:prstGeom prst="rect">
            <a:avLst/>
          </a:prstGeom>
          <a:noFill/>
        </p:spPr>
        <p:txBody>
          <a:bodyPr wrap="square" lIns="0" tIns="0" rIns="0" bIns="0" rtlCol="0" anchor="ctr"/>
          <a:lstStyle/>
          <a:p>
            <a:pPr marL="0" indent="0">
              <a:lnSpc>
                <a:spcPct val="120000"/>
              </a:lnSpc>
              <a:buNone/>
            </a:pPr>
            <a:r>
              <a:rPr lang="en-US" sz="1150" dirty="0">
                <a:solidFill>
                  <a:srgbClr val="3A3A45"/>
                </a:solidFill>
                <a:latin typeface="Calibri" panose="020F0502020204030204" pitchFamily="34" charset="0"/>
                <a:ea typeface="Calibri" panose="020F0502020204030204" pitchFamily="34" charset="-122"/>
                <a:cs typeface="Calibri" panose="020F0502020204030204" pitchFamily="34" charset="-120"/>
              </a:rPr>
              <a:t>The raw file included a trailing, unnamed column. We confirmed every value in it exactly matched the Output column, then dropped it as duplicate information that added no analytical value.</a:t>
            </a:r>
            <a:endParaRPr lang="en-US" sz="1150" dirty="0"/>
          </a:p>
        </p:txBody>
      </p:sp>
      <p:sp>
        <p:nvSpPr>
          <p:cNvPr id="19" name="Text 17"/>
          <p:cNvSpPr txBox="1"/>
          <p:nvPr/>
        </p:nvSpPr>
        <p:spPr>
          <a:xfrm>
            <a:off x="548640" y="5806440"/>
            <a:ext cx="11064240" cy="457200"/>
          </a:xfrm>
          <a:prstGeom prst="rect">
            <a:avLst/>
          </a:prstGeom>
          <a:noFill/>
        </p:spPr>
        <p:txBody>
          <a:bodyPr wrap="square" lIns="0" tIns="0" rIns="0" bIns="0" rtlCol="0" anchor="ctr"/>
          <a:lstStyle/>
          <a:p>
            <a:pPr marL="0" indent="0">
              <a:buNone/>
            </a:pPr>
            <a:r>
              <a:rPr lang="en-US" sz="1300" b="1" dirty="0">
                <a:solidFill>
                  <a:srgbClr val="2F3C7E"/>
                </a:solidFill>
                <a:latin typeface="Calibri" panose="020F0502020204030204" pitchFamily="34" charset="0"/>
                <a:ea typeface="Calibri" panose="020F0502020204030204" pitchFamily="34" charset="-122"/>
                <a:cs typeface="Calibri" panose="020F0502020204030204" pitchFamily="34" charset="-120"/>
              </a:rPr>
              <a:t>Result: 388 raw rows -&gt; 285 clean rows, 14 raw columns -&gt; 13 columns.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6167"/>
                </a:solidFill>
                <a:latin typeface="Calibri" panose="020F0502020204030204" pitchFamily="34" charset="0"/>
                <a:ea typeface="Calibri" panose="020F0502020204030204" pitchFamily="34" charset="-122"/>
                <a:cs typeface="Calibri" panose="020F0502020204030204" pitchFamily="34" charset="-120"/>
              </a:rPr>
              <a:t>05 · DATA TRANSFORMATION PERFORMED</a:t>
            </a:r>
            <a:endParaRPr lang="en-US" sz="1200" dirty="0"/>
          </a:p>
        </p:txBody>
      </p:sp>
      <p:sp>
        <p:nvSpPr>
          <p:cNvPr id="3" name="Text 1"/>
          <p:cNvSpPr txBox="1"/>
          <p:nvPr/>
        </p:nvSpPr>
        <p:spPr>
          <a:xfrm>
            <a:off x="548640" y="621792"/>
            <a:ext cx="10515600" cy="594360"/>
          </a:xfrm>
          <a:prstGeom prst="rect">
            <a:avLst/>
          </a:prstGeom>
          <a:noFill/>
        </p:spPr>
        <p:txBody>
          <a:bodyPr wrap="square" lIns="0" tIns="0" rIns="0" bIns="0" rtlCol="0" anchor="ctr"/>
          <a:lstStyle/>
          <a:p>
            <a:pPr marL="0" indent="0">
              <a:buNone/>
            </a:pPr>
            <a:r>
              <a:rPr lang="en-US" sz="2800" b="1" dirty="0">
                <a:solidFill>
                  <a:srgbClr val="2F3C7E"/>
                </a:solidFill>
                <a:latin typeface="Cambria" panose="02040503050406030204" pitchFamily="34" charset="0"/>
                <a:ea typeface="Cambria" panose="02040503050406030204" pitchFamily="34" charset="-122"/>
                <a:cs typeface="Cambria" panose="02040503050406030204" pitchFamily="34" charset="-120"/>
              </a:rPr>
              <a:t>Preparing the Data for Analysis</a:t>
            </a:r>
            <a:endParaRPr lang="en-US" sz="2800" dirty="0"/>
          </a:p>
        </p:txBody>
      </p:sp>
      <p:sp>
        <p:nvSpPr>
          <p:cNvPr id="4" name="Shape 2"/>
          <p:cNvSpPr/>
          <p:nvPr/>
        </p:nvSpPr>
        <p:spPr>
          <a:xfrm>
            <a:off x="548640" y="1417320"/>
            <a:ext cx="5349240" cy="2103120"/>
          </a:xfrm>
          <a:prstGeom prst="roundRect">
            <a:avLst>
              <a:gd name="adj" fmla="val 4348"/>
            </a:avLst>
          </a:prstGeom>
          <a:solidFill>
            <a:srgbClr val="FBEAEA"/>
          </a:solidFill>
        </p:spPr>
      </p:sp>
      <p:sp>
        <p:nvSpPr>
          <p:cNvPr id="5" name="Text 3"/>
          <p:cNvSpPr txBox="1"/>
          <p:nvPr/>
        </p:nvSpPr>
        <p:spPr>
          <a:xfrm>
            <a:off x="822960" y="1618488"/>
            <a:ext cx="4800600" cy="457200"/>
          </a:xfrm>
          <a:prstGeom prst="rect">
            <a:avLst/>
          </a:prstGeom>
          <a:noFill/>
        </p:spPr>
        <p:txBody>
          <a:bodyPr wrap="square" lIns="0" tIns="0" rIns="0" bIns="0" rtlCol="0" anchor="ctr"/>
          <a:lstStyle/>
          <a:p>
            <a:pPr marL="0" indent="0">
              <a:buNone/>
            </a:pPr>
            <a:r>
              <a:rPr lang="en-US" sz="1500" b="1" dirty="0">
                <a:solidFill>
                  <a:srgbClr val="2F3C7E"/>
                </a:solidFill>
                <a:latin typeface="Calibri" panose="020F0502020204030204" pitchFamily="34" charset="0"/>
                <a:ea typeface="Calibri" panose="020F0502020204030204" pitchFamily="34" charset="-122"/>
                <a:cs typeface="Calibri" panose="020F0502020204030204" pitchFamily="34" charset="-120"/>
              </a:rPr>
              <a:t>Renamed columns</a:t>
            </a:r>
            <a:endParaRPr lang="en-US" sz="1500" dirty="0"/>
          </a:p>
        </p:txBody>
      </p:sp>
      <p:sp>
        <p:nvSpPr>
          <p:cNvPr id="6" name="Text 4"/>
          <p:cNvSpPr txBox="1"/>
          <p:nvPr/>
        </p:nvSpPr>
        <p:spPr>
          <a:xfrm>
            <a:off x="822960" y="2103120"/>
            <a:ext cx="4800600" cy="1234440"/>
          </a:xfrm>
          <a:prstGeom prst="rect">
            <a:avLst/>
          </a:prstGeom>
          <a:noFill/>
        </p:spPr>
        <p:txBody>
          <a:bodyPr wrap="square" lIns="0" tIns="0" rIns="0" bIns="0" rtlCol="0" anchor="ctr"/>
          <a:lstStyle/>
          <a:p>
            <a:pPr marL="0" indent="0">
              <a:lnSpc>
                <a:spcPct val="120000"/>
              </a:lnSpc>
              <a:buNone/>
            </a:pPr>
            <a:r>
              <a:rPr lang="en-US" sz="1150" dirty="0">
                <a:solidFill>
                  <a:srgbClr val="3A3A45"/>
                </a:solidFill>
                <a:latin typeface="Calibri" panose="020F0502020204030204" pitchFamily="34" charset="0"/>
                <a:ea typeface="Calibri" panose="020F0502020204030204" pitchFamily="34" charset="-122"/>
                <a:cs typeface="Calibri" panose="020F0502020204030204" pitchFamily="34" charset="-120"/>
              </a:rPr>
              <a:t>All column names were converted to a consistent snake_case format (e.g. "Marital Status" -&gt; marital_status), removing spaces so columns are easier and safer to reference in code.</a:t>
            </a:r>
            <a:endParaRPr lang="en-US" sz="1150" dirty="0"/>
          </a:p>
        </p:txBody>
      </p:sp>
      <p:sp>
        <p:nvSpPr>
          <p:cNvPr id="7" name="Shape 5"/>
          <p:cNvSpPr/>
          <p:nvPr/>
        </p:nvSpPr>
        <p:spPr>
          <a:xfrm>
            <a:off x="6172200" y="1417320"/>
            <a:ext cx="5349240" cy="2103120"/>
          </a:xfrm>
          <a:prstGeom prst="roundRect">
            <a:avLst>
              <a:gd name="adj" fmla="val 4348"/>
            </a:avLst>
          </a:prstGeom>
          <a:solidFill>
            <a:srgbClr val="FDF3D9"/>
          </a:solidFill>
        </p:spPr>
      </p:sp>
      <p:sp>
        <p:nvSpPr>
          <p:cNvPr id="8" name="Text 6"/>
          <p:cNvSpPr txBox="1"/>
          <p:nvPr/>
        </p:nvSpPr>
        <p:spPr>
          <a:xfrm>
            <a:off x="6446520" y="1618488"/>
            <a:ext cx="4800600" cy="457200"/>
          </a:xfrm>
          <a:prstGeom prst="rect">
            <a:avLst/>
          </a:prstGeom>
          <a:noFill/>
        </p:spPr>
        <p:txBody>
          <a:bodyPr wrap="square" lIns="0" tIns="0" rIns="0" bIns="0" rtlCol="0" anchor="ctr"/>
          <a:lstStyle/>
          <a:p>
            <a:pPr marL="0" indent="0">
              <a:buNone/>
            </a:pPr>
            <a:r>
              <a:rPr lang="en-US" sz="1500" b="1" dirty="0">
                <a:solidFill>
                  <a:srgbClr val="2F3C7E"/>
                </a:solidFill>
                <a:latin typeface="Calibri" panose="020F0502020204030204" pitchFamily="34" charset="0"/>
                <a:ea typeface="Calibri" panose="020F0502020204030204" pitchFamily="34" charset="-122"/>
                <a:cs typeface="Calibri" panose="020F0502020204030204" pitchFamily="34" charset="-120"/>
              </a:rPr>
              <a:t>Derived: age_group</a:t>
            </a:r>
            <a:endParaRPr lang="en-US" sz="1500" dirty="0"/>
          </a:p>
        </p:txBody>
      </p:sp>
      <p:sp>
        <p:nvSpPr>
          <p:cNvPr id="9" name="Text 7"/>
          <p:cNvSpPr txBox="1"/>
          <p:nvPr/>
        </p:nvSpPr>
        <p:spPr>
          <a:xfrm>
            <a:off x="6446520" y="2103120"/>
            <a:ext cx="4800600" cy="1234440"/>
          </a:xfrm>
          <a:prstGeom prst="rect">
            <a:avLst/>
          </a:prstGeom>
          <a:noFill/>
        </p:spPr>
        <p:txBody>
          <a:bodyPr wrap="square" lIns="0" tIns="0" rIns="0" bIns="0" rtlCol="0" anchor="ctr"/>
          <a:lstStyle/>
          <a:p>
            <a:pPr marL="0" indent="0">
              <a:lnSpc>
                <a:spcPct val="120000"/>
              </a:lnSpc>
              <a:buNone/>
            </a:pPr>
            <a:r>
              <a:rPr lang="en-US" sz="1150" dirty="0">
                <a:solidFill>
                  <a:srgbClr val="3A3A45"/>
                </a:solidFill>
                <a:latin typeface="Calibri" panose="020F0502020204030204" pitchFamily="34" charset="0"/>
                <a:ea typeface="Calibri" panose="020F0502020204030204" pitchFamily="34" charset="-122"/>
                <a:cs typeface="Calibri" panose="020F0502020204030204" pitchFamily="34" charset="-120"/>
              </a:rPr>
              <a:t>Binned the continuous age column into four brackets — 18-22, 23-27, 28-32, 33+ — using pd.cut(), so we can compare behavior across life stages instead of single ages.</a:t>
            </a:r>
            <a:endParaRPr lang="en-US" sz="1150" dirty="0"/>
          </a:p>
        </p:txBody>
      </p:sp>
      <p:sp>
        <p:nvSpPr>
          <p:cNvPr id="10" name="Shape 8"/>
          <p:cNvSpPr/>
          <p:nvPr/>
        </p:nvSpPr>
        <p:spPr>
          <a:xfrm>
            <a:off x="548640" y="3749040"/>
            <a:ext cx="5349240" cy="2103120"/>
          </a:xfrm>
          <a:prstGeom prst="roundRect">
            <a:avLst>
              <a:gd name="adj" fmla="val 4348"/>
            </a:avLst>
          </a:prstGeom>
          <a:solidFill>
            <a:srgbClr val="FBEAEA"/>
          </a:solidFill>
        </p:spPr>
      </p:sp>
      <p:sp>
        <p:nvSpPr>
          <p:cNvPr id="11" name="Text 9"/>
          <p:cNvSpPr txBox="1"/>
          <p:nvPr/>
        </p:nvSpPr>
        <p:spPr>
          <a:xfrm>
            <a:off x="822960" y="3950208"/>
            <a:ext cx="4800600" cy="457200"/>
          </a:xfrm>
          <a:prstGeom prst="rect">
            <a:avLst/>
          </a:prstGeom>
          <a:noFill/>
        </p:spPr>
        <p:txBody>
          <a:bodyPr wrap="square" lIns="0" tIns="0" rIns="0" bIns="0" rtlCol="0" anchor="ctr"/>
          <a:lstStyle/>
          <a:p>
            <a:pPr marL="0" indent="0">
              <a:buNone/>
            </a:pPr>
            <a:r>
              <a:rPr lang="en-US" sz="1500" b="1" dirty="0">
                <a:solidFill>
                  <a:srgbClr val="2F3C7E"/>
                </a:solidFill>
                <a:latin typeface="Calibri" panose="020F0502020204030204" pitchFamily="34" charset="0"/>
                <a:ea typeface="Calibri" panose="020F0502020204030204" pitchFamily="34" charset="-122"/>
                <a:cs typeface="Calibri" panose="020F0502020204030204" pitchFamily="34" charset="-120"/>
              </a:rPr>
              <a:t>Derived: monthly_income_midpoint</a:t>
            </a:r>
            <a:endParaRPr lang="en-US" sz="1500" dirty="0"/>
          </a:p>
        </p:txBody>
      </p:sp>
      <p:sp>
        <p:nvSpPr>
          <p:cNvPr id="12" name="Text 10"/>
          <p:cNvSpPr txBox="1"/>
          <p:nvPr/>
        </p:nvSpPr>
        <p:spPr>
          <a:xfrm>
            <a:off x="822960" y="4434840"/>
            <a:ext cx="4800600" cy="1234440"/>
          </a:xfrm>
          <a:prstGeom prst="rect">
            <a:avLst/>
          </a:prstGeom>
          <a:noFill/>
        </p:spPr>
        <p:txBody>
          <a:bodyPr wrap="square" lIns="0" tIns="0" rIns="0" bIns="0" rtlCol="0" anchor="ctr"/>
          <a:lstStyle/>
          <a:p>
            <a:pPr marL="0" indent="0">
              <a:lnSpc>
                <a:spcPct val="120000"/>
              </a:lnSpc>
              <a:buNone/>
            </a:pPr>
            <a:r>
              <a:rPr lang="en-US" sz="1150" dirty="0">
                <a:solidFill>
                  <a:srgbClr val="3A3A45"/>
                </a:solidFill>
                <a:latin typeface="Calibri" panose="020F0502020204030204" pitchFamily="34" charset="0"/>
                <a:ea typeface="Calibri" panose="020F0502020204030204" pitchFamily="34" charset="-122"/>
                <a:cs typeface="Calibri" panose="020F0502020204030204" pitchFamily="34" charset="-120"/>
              </a:rPr>
              <a:t>Mapped the categorical income ranges (e.g. "10001 to 25000") to a representative numeric midpoint, turning income into a number that can be averaged and grouped.</a:t>
            </a:r>
            <a:endParaRPr lang="en-US" sz="1150" dirty="0"/>
          </a:p>
        </p:txBody>
      </p:sp>
      <p:sp>
        <p:nvSpPr>
          <p:cNvPr id="13" name="Shape 11"/>
          <p:cNvSpPr/>
          <p:nvPr/>
        </p:nvSpPr>
        <p:spPr>
          <a:xfrm>
            <a:off x="6172200" y="3749040"/>
            <a:ext cx="5349240" cy="2103120"/>
          </a:xfrm>
          <a:prstGeom prst="roundRect">
            <a:avLst>
              <a:gd name="adj" fmla="val 4348"/>
            </a:avLst>
          </a:prstGeom>
          <a:solidFill>
            <a:srgbClr val="FDF3D9"/>
          </a:solidFill>
        </p:spPr>
      </p:sp>
      <p:sp>
        <p:nvSpPr>
          <p:cNvPr id="14" name="Text 12"/>
          <p:cNvSpPr txBox="1"/>
          <p:nvPr/>
        </p:nvSpPr>
        <p:spPr>
          <a:xfrm>
            <a:off x="6446520" y="3950208"/>
            <a:ext cx="4800600" cy="457200"/>
          </a:xfrm>
          <a:prstGeom prst="rect">
            <a:avLst/>
          </a:prstGeom>
          <a:noFill/>
        </p:spPr>
        <p:txBody>
          <a:bodyPr wrap="square" lIns="0" tIns="0" rIns="0" bIns="0" rtlCol="0" anchor="ctr"/>
          <a:lstStyle/>
          <a:p>
            <a:pPr marL="0" indent="0">
              <a:buNone/>
            </a:pPr>
            <a:r>
              <a:rPr lang="en-US" sz="1500" b="1" dirty="0">
                <a:solidFill>
                  <a:srgbClr val="2F3C7E"/>
                </a:solidFill>
                <a:latin typeface="Calibri" panose="020F0502020204030204" pitchFamily="34" charset="0"/>
                <a:ea typeface="Calibri" panose="020F0502020204030204" pitchFamily="34" charset="-122"/>
                <a:cs typeface="Calibri" panose="020F0502020204030204" pitchFamily="34" charset="-120"/>
              </a:rPr>
              <a:t>Grouping / aggregation</a:t>
            </a:r>
            <a:endParaRPr lang="en-US" sz="1500" dirty="0"/>
          </a:p>
        </p:txBody>
      </p:sp>
      <p:sp>
        <p:nvSpPr>
          <p:cNvPr id="15" name="Text 13"/>
          <p:cNvSpPr txBox="1"/>
          <p:nvPr/>
        </p:nvSpPr>
        <p:spPr>
          <a:xfrm>
            <a:off x="6446520" y="4434840"/>
            <a:ext cx="4800600" cy="1234440"/>
          </a:xfrm>
          <a:prstGeom prst="rect">
            <a:avLst/>
          </a:prstGeom>
          <a:noFill/>
        </p:spPr>
        <p:txBody>
          <a:bodyPr wrap="square" lIns="0" tIns="0" rIns="0" bIns="0" rtlCol="0" anchor="ctr"/>
          <a:lstStyle/>
          <a:p>
            <a:pPr marL="0" indent="0">
              <a:lnSpc>
                <a:spcPct val="120000"/>
              </a:lnSpc>
              <a:buNone/>
            </a:pPr>
            <a:r>
              <a:rPr lang="en-US" sz="1150" dirty="0">
                <a:solidFill>
                  <a:srgbClr val="3A3A45"/>
                </a:solidFill>
                <a:latin typeface="Calibri" panose="020F0502020204030204" pitchFamily="34" charset="0"/>
                <a:ea typeface="Calibri" panose="020F0502020204030204" pitchFamily="34" charset="-122"/>
                <a:cs typeface="Calibri" panose="020F0502020204030204" pitchFamily="34" charset="-120"/>
              </a:rPr>
              <a:t>Used the two derived columns together — groupby('age_group')['monthly_income_midpoint'].mean() — to summarize average income by age bracket in one line.</a:t>
            </a:r>
            <a:endParaRPr lang="en-US" sz="1150" dirty="0"/>
          </a:p>
        </p:txBody>
      </p:sp>
      <p:pic>
        <p:nvPicPr>
          <p:cNvPr id="16" name="Picture 15" descr="ic_tag.png"/>
          <p:cNvPicPr>
            <a:picLocks noChangeAspect="1"/>
          </p:cNvPicPr>
          <p:nvPr/>
        </p:nvPicPr>
        <p:blipFill>
          <a:blip r:embed="rId1"/>
          <a:stretch>
            <a:fillRect/>
          </a:stretch>
        </p:blipFill>
        <p:spPr>
          <a:xfrm>
            <a:off x="5212080" y="1645920"/>
            <a:ext cx="457200" cy="457200"/>
          </a:xfrm>
          <a:prstGeom prst="rect">
            <a:avLst/>
          </a:prstGeom>
        </p:spPr>
      </p:pic>
      <p:pic>
        <p:nvPicPr>
          <p:cNvPr id="17" name="Picture 16" descr="ic_barchart.png"/>
          <p:cNvPicPr>
            <a:picLocks noChangeAspect="1"/>
          </p:cNvPicPr>
          <p:nvPr/>
        </p:nvPicPr>
        <p:blipFill>
          <a:blip r:embed="rId2"/>
          <a:stretch>
            <a:fillRect/>
          </a:stretch>
        </p:blipFill>
        <p:spPr>
          <a:xfrm>
            <a:off x="10835640" y="1645920"/>
            <a:ext cx="457200" cy="457200"/>
          </a:xfrm>
          <a:prstGeom prst="rect">
            <a:avLst/>
          </a:prstGeom>
        </p:spPr>
      </p:pic>
      <p:pic>
        <p:nvPicPr>
          <p:cNvPr id="18" name="Picture 17" descr="ic_dollar.png"/>
          <p:cNvPicPr>
            <a:picLocks noChangeAspect="1"/>
          </p:cNvPicPr>
          <p:nvPr/>
        </p:nvPicPr>
        <p:blipFill>
          <a:blip r:embed="rId3"/>
          <a:stretch>
            <a:fillRect/>
          </a:stretch>
        </p:blipFill>
        <p:spPr>
          <a:xfrm>
            <a:off x="5212080" y="3977640"/>
            <a:ext cx="457200" cy="457200"/>
          </a:xfrm>
          <a:prstGeom prst="rect">
            <a:avLst/>
          </a:prstGeom>
        </p:spPr>
      </p:pic>
      <p:pic>
        <p:nvPicPr>
          <p:cNvPr id="19" name="Picture 18" descr="ic_layers.png"/>
          <p:cNvPicPr>
            <a:picLocks noChangeAspect="1"/>
          </p:cNvPicPr>
          <p:nvPr/>
        </p:nvPicPr>
        <p:blipFill>
          <a:blip r:embed="rId4"/>
          <a:stretch>
            <a:fillRect/>
          </a:stretch>
        </p:blipFill>
        <p:spPr>
          <a:xfrm>
            <a:off x="10835640" y="3977640"/>
            <a:ext cx="457200" cy="457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6167"/>
                </a:solidFill>
                <a:latin typeface="Calibri" panose="020F0502020204030204" pitchFamily="34" charset="0"/>
                <a:ea typeface="Calibri" panose="020F0502020204030204" pitchFamily="34" charset="-122"/>
                <a:cs typeface="Calibri" panose="020F0502020204030204" pitchFamily="34" charset="-120"/>
              </a:rPr>
              <a:t>06 · VISUALIZATIONS</a:t>
            </a:r>
            <a:endParaRPr lang="en-US" sz="1200" dirty="0"/>
          </a:p>
        </p:txBody>
      </p:sp>
      <p:sp>
        <p:nvSpPr>
          <p:cNvPr id="3" name="Text 1"/>
          <p:cNvSpPr txBox="1"/>
          <p:nvPr/>
        </p:nvSpPr>
        <p:spPr>
          <a:xfrm>
            <a:off x="548640" y="621792"/>
            <a:ext cx="10515600" cy="594360"/>
          </a:xfrm>
          <a:prstGeom prst="rect">
            <a:avLst/>
          </a:prstGeom>
          <a:noFill/>
        </p:spPr>
        <p:txBody>
          <a:bodyPr wrap="square" lIns="0" tIns="0" rIns="0" bIns="0" rtlCol="0" anchor="ctr"/>
          <a:lstStyle/>
          <a:p>
            <a:pPr marL="0" indent="0">
              <a:buNone/>
            </a:pPr>
            <a:r>
              <a:rPr lang="en-US" sz="2800" b="1" dirty="0">
                <a:solidFill>
                  <a:srgbClr val="2F3C7E"/>
                </a:solidFill>
                <a:latin typeface="Cambria" panose="02040503050406030204" pitchFamily="34" charset="0"/>
                <a:ea typeface="Cambria" panose="02040503050406030204" pitchFamily="34" charset="-122"/>
                <a:cs typeface="Cambria" panose="02040503050406030204" pitchFamily="34" charset="-120"/>
              </a:rPr>
              <a:t>Category Distributions (Bar Graphs)</a:t>
            </a:r>
            <a:endParaRPr lang="en-US" sz="2800" dirty="0"/>
          </a:p>
        </p:txBody>
      </p:sp>
      <p:sp>
        <p:nvSpPr>
          <p:cNvPr id="4" name="Shape 2"/>
          <p:cNvSpPr/>
          <p:nvPr/>
        </p:nvSpPr>
        <p:spPr>
          <a:xfrm>
            <a:off x="457200" y="1417320"/>
            <a:ext cx="3611880" cy="2788920"/>
          </a:xfrm>
          <a:prstGeom prst="roundRect">
            <a:avLst>
              <a:gd name="adj" fmla="val 2623"/>
            </a:avLst>
          </a:prstGeom>
          <a:solidFill>
            <a:srgbClr val="F7F7FA"/>
          </a:solidFill>
        </p:spPr>
      </p:sp>
      <p:pic>
        <p:nvPicPr>
          <p:cNvPr id="5" name="Image 0" descr="charts/gender_bar.png"/>
          <p:cNvPicPr>
            <a:picLocks noChangeAspect="1"/>
          </p:cNvPicPr>
          <p:nvPr/>
        </p:nvPicPr>
        <p:blipFill>
          <a:blip r:embed="rId1"/>
          <a:stretch>
            <a:fillRect/>
          </a:stretch>
        </p:blipFill>
        <p:spPr>
          <a:xfrm>
            <a:off x="548640" y="1508760"/>
            <a:ext cx="3429000" cy="2468880"/>
          </a:xfrm>
          <a:prstGeom prst="rect">
            <a:avLst/>
          </a:prstGeom>
        </p:spPr>
      </p:pic>
      <p:sp>
        <p:nvSpPr>
          <p:cNvPr id="6" name="Text 3"/>
          <p:cNvSpPr txBox="1"/>
          <p:nvPr/>
        </p:nvSpPr>
        <p:spPr>
          <a:xfrm>
            <a:off x="457200" y="4297680"/>
            <a:ext cx="3611880" cy="822960"/>
          </a:xfrm>
          <a:prstGeom prst="rect">
            <a:avLst/>
          </a:prstGeom>
          <a:noFill/>
        </p:spPr>
        <p:txBody>
          <a:bodyPr wrap="square" lIns="0" tIns="0" rIns="0" bIns="0" rtlCol="0" anchor="ctr"/>
          <a:lstStyle/>
          <a:p>
            <a:pPr marL="0" indent="0">
              <a:lnSpc>
                <a:spcPct val="120000"/>
              </a:lnSpc>
              <a:buNone/>
            </a:pPr>
            <a:r>
              <a:rPr lang="en-US" sz="1100" dirty="0">
                <a:solidFill>
                  <a:srgbClr val="3A3A45"/>
                </a:solidFill>
                <a:latin typeface="Calibri" panose="020F0502020204030204" pitchFamily="34" charset="0"/>
                <a:ea typeface="Calibri" panose="020F0502020204030204" pitchFamily="34" charset="-122"/>
                <a:cs typeface="Calibri" panose="020F0502020204030204" pitchFamily="34" charset="-120"/>
              </a:rPr>
              <a:t>164 male vs 121 female respondents (57%/43%) — a moderate skew, not an extreme imbalance.</a:t>
            </a:r>
            <a:endParaRPr lang="en-US" sz="1100" dirty="0"/>
          </a:p>
        </p:txBody>
      </p:sp>
      <p:sp>
        <p:nvSpPr>
          <p:cNvPr id="7" name="Shape 4"/>
          <p:cNvSpPr/>
          <p:nvPr/>
        </p:nvSpPr>
        <p:spPr>
          <a:xfrm>
            <a:off x="4251960" y="1417320"/>
            <a:ext cx="3611880" cy="2788920"/>
          </a:xfrm>
          <a:prstGeom prst="roundRect">
            <a:avLst>
              <a:gd name="adj" fmla="val 2623"/>
            </a:avLst>
          </a:prstGeom>
          <a:solidFill>
            <a:srgbClr val="F7F7FA"/>
          </a:solidFill>
        </p:spPr>
      </p:sp>
      <p:pic>
        <p:nvPicPr>
          <p:cNvPr id="8" name="Image 1" descr="charts/feedback_bar.png"/>
          <p:cNvPicPr>
            <a:picLocks noChangeAspect="1"/>
          </p:cNvPicPr>
          <p:nvPr/>
        </p:nvPicPr>
        <p:blipFill>
          <a:blip r:embed="rId2"/>
          <a:stretch>
            <a:fillRect/>
          </a:stretch>
        </p:blipFill>
        <p:spPr>
          <a:xfrm>
            <a:off x="4343400" y="1508760"/>
            <a:ext cx="3429000" cy="2468880"/>
          </a:xfrm>
          <a:prstGeom prst="rect">
            <a:avLst/>
          </a:prstGeom>
        </p:spPr>
      </p:pic>
      <p:sp>
        <p:nvSpPr>
          <p:cNvPr id="9" name="Text 5"/>
          <p:cNvSpPr txBox="1"/>
          <p:nvPr/>
        </p:nvSpPr>
        <p:spPr>
          <a:xfrm>
            <a:off x="4251960" y="4297680"/>
            <a:ext cx="3611880" cy="822960"/>
          </a:xfrm>
          <a:prstGeom prst="rect">
            <a:avLst/>
          </a:prstGeom>
          <a:noFill/>
        </p:spPr>
        <p:txBody>
          <a:bodyPr wrap="square" lIns="0" tIns="0" rIns="0" bIns="0" rtlCol="0" anchor="ctr"/>
          <a:lstStyle/>
          <a:p>
            <a:pPr marL="0" indent="0">
              <a:lnSpc>
                <a:spcPct val="120000"/>
              </a:lnSpc>
              <a:buNone/>
            </a:pPr>
            <a:r>
              <a:rPr lang="en-US" sz="1100" dirty="0">
                <a:solidFill>
                  <a:srgbClr val="3A3A45"/>
                </a:solidFill>
                <a:latin typeface="Calibri" panose="020F0502020204030204" pitchFamily="34" charset="0"/>
                <a:ea typeface="Calibri" panose="020F0502020204030204" pitchFamily="34" charset="-122"/>
                <a:cs typeface="Calibri" panose="020F0502020204030204" pitchFamily="34" charset="-120"/>
              </a:rPr>
              <a:t>231 positive vs 54 negative (81% positive) — feedback leans strongly favorable.</a:t>
            </a:r>
            <a:endParaRPr lang="en-US" sz="1100" dirty="0"/>
          </a:p>
        </p:txBody>
      </p:sp>
      <p:sp>
        <p:nvSpPr>
          <p:cNvPr id="10" name="Shape 6"/>
          <p:cNvSpPr/>
          <p:nvPr/>
        </p:nvSpPr>
        <p:spPr>
          <a:xfrm>
            <a:off x="8046720" y="1417320"/>
            <a:ext cx="3611880" cy="2788920"/>
          </a:xfrm>
          <a:prstGeom prst="roundRect">
            <a:avLst>
              <a:gd name="adj" fmla="val 2623"/>
            </a:avLst>
          </a:prstGeom>
          <a:solidFill>
            <a:srgbClr val="F7F7FA"/>
          </a:solidFill>
        </p:spPr>
      </p:sp>
      <p:pic>
        <p:nvPicPr>
          <p:cNvPr id="11" name="Image 2" descr="charts/output_bar.png"/>
          <p:cNvPicPr>
            <a:picLocks noChangeAspect="1"/>
          </p:cNvPicPr>
          <p:nvPr/>
        </p:nvPicPr>
        <p:blipFill>
          <a:blip r:embed="rId3"/>
          <a:stretch>
            <a:fillRect/>
          </a:stretch>
        </p:blipFill>
        <p:spPr>
          <a:xfrm>
            <a:off x="8138160" y="1508760"/>
            <a:ext cx="3429000" cy="2468880"/>
          </a:xfrm>
          <a:prstGeom prst="rect">
            <a:avLst/>
          </a:prstGeom>
        </p:spPr>
      </p:pic>
      <p:sp>
        <p:nvSpPr>
          <p:cNvPr id="12" name="Text 7"/>
          <p:cNvSpPr txBox="1"/>
          <p:nvPr/>
        </p:nvSpPr>
        <p:spPr>
          <a:xfrm>
            <a:off x="8046720" y="4297680"/>
            <a:ext cx="3611880" cy="822960"/>
          </a:xfrm>
          <a:prstGeom prst="rect">
            <a:avLst/>
          </a:prstGeom>
          <a:noFill/>
        </p:spPr>
        <p:txBody>
          <a:bodyPr wrap="square" lIns="0" tIns="0" rIns="0" bIns="0" rtlCol="0" anchor="ctr"/>
          <a:lstStyle/>
          <a:p>
            <a:pPr marL="0" indent="0">
              <a:lnSpc>
                <a:spcPct val="120000"/>
              </a:lnSpc>
              <a:buNone/>
            </a:pPr>
            <a:r>
              <a:rPr lang="en-US" sz="1100" dirty="0">
                <a:solidFill>
                  <a:srgbClr val="3A3A45"/>
                </a:solidFill>
                <a:latin typeface="Calibri" panose="020F0502020204030204" pitchFamily="34" charset="0"/>
                <a:ea typeface="Calibri" panose="020F0502020204030204" pitchFamily="34" charset="-122"/>
                <a:cs typeface="Calibri" panose="020F0502020204030204" pitchFamily="34" charset="-120"/>
              </a:rPr>
              <a:t>217 orders completed vs 68 not (76%) — most sessions end in a placed order.</a:t>
            </a:r>
            <a:endParaRPr lang="en-US" sz="1100" dirty="0"/>
          </a:p>
        </p:txBody>
      </p:sp>
      <p:sp>
        <p:nvSpPr>
          <p:cNvPr id="13" name="Shape 8"/>
          <p:cNvSpPr/>
          <p:nvPr/>
        </p:nvSpPr>
        <p:spPr>
          <a:xfrm>
            <a:off x="457200" y="5257800"/>
            <a:ext cx="5577840" cy="1417320"/>
          </a:xfrm>
          <a:prstGeom prst="roundRect">
            <a:avLst>
              <a:gd name="adj" fmla="val 5161"/>
            </a:avLst>
          </a:prstGeom>
          <a:solidFill>
            <a:srgbClr val="F7F7FA"/>
          </a:solidFill>
        </p:spPr>
      </p:sp>
      <p:pic>
        <p:nvPicPr>
          <p:cNvPr id="14" name="Image 3" descr="charts/marital_bar.png"/>
          <p:cNvPicPr>
            <a:picLocks noChangeAspect="1"/>
          </p:cNvPicPr>
          <p:nvPr/>
        </p:nvPicPr>
        <p:blipFill>
          <a:blip r:embed="rId4"/>
          <a:stretch>
            <a:fillRect/>
          </a:stretch>
        </p:blipFill>
        <p:spPr>
          <a:xfrm>
            <a:off x="1965960" y="5330952"/>
            <a:ext cx="2514600" cy="1280160"/>
          </a:xfrm>
          <a:prstGeom prst="rect">
            <a:avLst/>
          </a:prstGeom>
        </p:spPr>
      </p:pic>
      <p:sp>
        <p:nvSpPr>
          <p:cNvPr id="15" name="Text 9"/>
          <p:cNvSpPr txBox="1"/>
          <p:nvPr/>
        </p:nvSpPr>
        <p:spPr>
          <a:xfrm>
            <a:off x="594360" y="5440680"/>
            <a:ext cx="1371600" cy="1188720"/>
          </a:xfrm>
          <a:prstGeom prst="rect">
            <a:avLst/>
          </a:prstGeom>
          <a:noFill/>
        </p:spPr>
        <p:txBody>
          <a:bodyPr wrap="square" lIns="0" tIns="0" rIns="0" bIns="0" rtlCol="0" anchor="ctr"/>
          <a:lstStyle/>
          <a:p>
            <a:pPr marL="0" indent="0">
              <a:lnSpc>
                <a:spcPct val="115000"/>
              </a:lnSpc>
              <a:buNone/>
            </a:pPr>
            <a:r>
              <a:rPr lang="en-US" sz="950" dirty="0">
                <a:solidFill>
                  <a:srgbClr val="3A3A45"/>
                </a:solidFill>
                <a:latin typeface="Calibri" panose="020F0502020204030204" pitchFamily="34" charset="0"/>
                <a:ea typeface="Calibri" panose="020F0502020204030204" pitchFamily="34" charset="-122"/>
                <a:cs typeface="Calibri" panose="020F0502020204030204" pitchFamily="34" charset="-120"/>
              </a:rPr>
              <a:t>Single respondents dominate the sample — consistent with the mostly-20s age range seen in Age Group.</a:t>
            </a:r>
            <a:endParaRPr lang="en-US" sz="950" dirty="0"/>
          </a:p>
        </p:txBody>
      </p:sp>
      <p:sp>
        <p:nvSpPr>
          <p:cNvPr id="16" name="Shape 10"/>
          <p:cNvSpPr/>
          <p:nvPr/>
        </p:nvSpPr>
        <p:spPr>
          <a:xfrm>
            <a:off x="6263640" y="5257800"/>
            <a:ext cx="5577840" cy="1417320"/>
          </a:xfrm>
          <a:prstGeom prst="roundRect">
            <a:avLst>
              <a:gd name="adj" fmla="val 5161"/>
            </a:avLst>
          </a:prstGeom>
          <a:solidFill>
            <a:srgbClr val="F7F7FA"/>
          </a:solidFill>
        </p:spPr>
      </p:sp>
      <p:pic>
        <p:nvPicPr>
          <p:cNvPr id="17" name="Image 4" descr="charts/agegroup_bar.png"/>
          <p:cNvPicPr>
            <a:picLocks noChangeAspect="1"/>
          </p:cNvPicPr>
          <p:nvPr/>
        </p:nvPicPr>
        <p:blipFill>
          <a:blip r:embed="rId5"/>
          <a:stretch>
            <a:fillRect/>
          </a:stretch>
        </p:blipFill>
        <p:spPr>
          <a:xfrm>
            <a:off x="7772400" y="5330952"/>
            <a:ext cx="2514600" cy="1280160"/>
          </a:xfrm>
          <a:prstGeom prst="rect">
            <a:avLst/>
          </a:prstGeom>
        </p:spPr>
      </p:pic>
      <p:sp>
        <p:nvSpPr>
          <p:cNvPr id="18" name="Text 11"/>
          <p:cNvSpPr txBox="1"/>
          <p:nvPr/>
        </p:nvSpPr>
        <p:spPr>
          <a:xfrm>
            <a:off x="6400800" y="5440680"/>
            <a:ext cx="1371600" cy="1188720"/>
          </a:xfrm>
          <a:prstGeom prst="rect">
            <a:avLst/>
          </a:prstGeom>
          <a:noFill/>
        </p:spPr>
        <p:txBody>
          <a:bodyPr wrap="square" lIns="0" tIns="0" rIns="0" bIns="0" rtlCol="0" anchor="ctr"/>
          <a:lstStyle/>
          <a:p>
            <a:pPr marL="0" indent="0">
              <a:lnSpc>
                <a:spcPct val="115000"/>
              </a:lnSpc>
              <a:buNone/>
            </a:pPr>
            <a:r>
              <a:rPr lang="en-US" sz="950" dirty="0">
                <a:solidFill>
                  <a:srgbClr val="3A3A45"/>
                </a:solidFill>
                <a:latin typeface="Calibri" panose="020F0502020204030204" pitchFamily="34" charset="0"/>
                <a:ea typeface="Calibri" panose="020F0502020204030204" pitchFamily="34" charset="-122"/>
                <a:cs typeface="Calibri" panose="020F0502020204030204" pitchFamily="34" charset="-120"/>
              </a:rPr>
              <a:t>23-27 is by far the largest age bracket (168 of 285) — the survey mainly captures young adults.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6167"/>
                </a:solidFill>
                <a:latin typeface="Calibri" panose="020F0502020204030204" pitchFamily="34" charset="0"/>
                <a:ea typeface="Calibri" panose="020F0502020204030204" pitchFamily="34" charset="-122"/>
                <a:cs typeface="Calibri" panose="020F0502020204030204" pitchFamily="34" charset="-120"/>
              </a:rPr>
              <a:t>06 · VISUALIZATIONS</a:t>
            </a:r>
            <a:endParaRPr lang="en-US" sz="1200" dirty="0"/>
          </a:p>
        </p:txBody>
      </p:sp>
      <p:sp>
        <p:nvSpPr>
          <p:cNvPr id="3" name="Text 1"/>
          <p:cNvSpPr txBox="1"/>
          <p:nvPr/>
        </p:nvSpPr>
        <p:spPr>
          <a:xfrm>
            <a:off x="548640" y="621792"/>
            <a:ext cx="10515600" cy="594360"/>
          </a:xfrm>
          <a:prstGeom prst="rect">
            <a:avLst/>
          </a:prstGeom>
          <a:noFill/>
        </p:spPr>
        <p:txBody>
          <a:bodyPr wrap="square" lIns="0" tIns="0" rIns="0" bIns="0" rtlCol="0" anchor="ctr"/>
          <a:lstStyle/>
          <a:p>
            <a:pPr marL="0" indent="0">
              <a:buNone/>
            </a:pPr>
            <a:r>
              <a:rPr lang="en-US" sz="2800" b="1" dirty="0">
                <a:solidFill>
                  <a:srgbClr val="2F3C7E"/>
                </a:solidFill>
                <a:latin typeface="Cambria" panose="02040503050406030204" pitchFamily="34" charset="0"/>
                <a:ea typeface="Cambria" panose="02040503050406030204" pitchFamily="34" charset="-122"/>
                <a:cs typeface="Cambria" panose="02040503050406030204" pitchFamily="34" charset="-120"/>
              </a:rPr>
              <a:t>Numeric Distributions &amp; a Derived Trend</a:t>
            </a:r>
            <a:endParaRPr lang="en-US" sz="2800" dirty="0"/>
          </a:p>
        </p:txBody>
      </p:sp>
      <p:sp>
        <p:nvSpPr>
          <p:cNvPr id="4" name="Shape 2"/>
          <p:cNvSpPr/>
          <p:nvPr/>
        </p:nvSpPr>
        <p:spPr>
          <a:xfrm>
            <a:off x="457200" y="1417320"/>
            <a:ext cx="3611880" cy="2788920"/>
          </a:xfrm>
          <a:prstGeom prst="roundRect">
            <a:avLst>
              <a:gd name="adj" fmla="val 2623"/>
            </a:avLst>
          </a:prstGeom>
          <a:solidFill>
            <a:srgbClr val="F7F7FA"/>
          </a:solidFill>
        </p:spPr>
      </p:sp>
      <p:pic>
        <p:nvPicPr>
          <p:cNvPr id="5" name="Image 0" descr="charts/age_hist.png"/>
          <p:cNvPicPr>
            <a:picLocks noChangeAspect="1"/>
          </p:cNvPicPr>
          <p:nvPr/>
        </p:nvPicPr>
        <p:blipFill>
          <a:blip r:embed="rId1"/>
          <a:stretch>
            <a:fillRect/>
          </a:stretch>
        </p:blipFill>
        <p:spPr>
          <a:xfrm>
            <a:off x="548640" y="1508760"/>
            <a:ext cx="3429000" cy="2468880"/>
          </a:xfrm>
          <a:prstGeom prst="rect">
            <a:avLst/>
          </a:prstGeom>
        </p:spPr>
      </p:pic>
      <p:sp>
        <p:nvSpPr>
          <p:cNvPr id="6" name="Text 3"/>
          <p:cNvSpPr txBox="1"/>
          <p:nvPr/>
        </p:nvSpPr>
        <p:spPr>
          <a:xfrm>
            <a:off x="457200" y="4297680"/>
            <a:ext cx="3611880" cy="822960"/>
          </a:xfrm>
          <a:prstGeom prst="rect">
            <a:avLst/>
          </a:prstGeom>
          <a:noFill/>
        </p:spPr>
        <p:txBody>
          <a:bodyPr wrap="square" lIns="0" tIns="0" rIns="0" bIns="0" rtlCol="0" anchor="ctr"/>
          <a:lstStyle/>
          <a:p>
            <a:pPr marL="0" indent="0">
              <a:lnSpc>
                <a:spcPct val="120000"/>
              </a:lnSpc>
              <a:buNone/>
            </a:pPr>
            <a:r>
              <a:rPr lang="en-US" sz="1100" dirty="0">
                <a:solidFill>
                  <a:srgbClr val="3A3A45"/>
                </a:solidFill>
                <a:latin typeface="Calibri" panose="020F0502020204030204" pitchFamily="34" charset="0"/>
                <a:ea typeface="Calibri" panose="020F0502020204030204" pitchFamily="34" charset="-122"/>
                <a:cs typeface="Calibri" panose="020F0502020204030204" pitchFamily="34" charset="-120"/>
              </a:rPr>
              <a:t>Ages cluster tightly between 21-26, with a peak around 24-25 — a young, homogeneous respondent pool.</a:t>
            </a:r>
            <a:endParaRPr lang="en-US" sz="1100" dirty="0"/>
          </a:p>
        </p:txBody>
      </p:sp>
      <p:sp>
        <p:nvSpPr>
          <p:cNvPr id="7" name="Shape 4"/>
          <p:cNvSpPr/>
          <p:nvPr/>
        </p:nvSpPr>
        <p:spPr>
          <a:xfrm>
            <a:off x="4251960" y="1417320"/>
            <a:ext cx="3611880" cy="2788920"/>
          </a:xfrm>
          <a:prstGeom prst="roundRect">
            <a:avLst>
              <a:gd name="adj" fmla="val 2623"/>
            </a:avLst>
          </a:prstGeom>
          <a:solidFill>
            <a:srgbClr val="F7F7FA"/>
          </a:solidFill>
        </p:spPr>
      </p:sp>
      <p:pic>
        <p:nvPicPr>
          <p:cNvPr id="8" name="Image 1" descr="charts/family_hist.png"/>
          <p:cNvPicPr>
            <a:picLocks noChangeAspect="1"/>
          </p:cNvPicPr>
          <p:nvPr/>
        </p:nvPicPr>
        <p:blipFill>
          <a:blip r:embed="rId2"/>
          <a:stretch>
            <a:fillRect/>
          </a:stretch>
        </p:blipFill>
        <p:spPr>
          <a:xfrm>
            <a:off x="4343400" y="1508760"/>
            <a:ext cx="3429000" cy="2468880"/>
          </a:xfrm>
          <a:prstGeom prst="rect">
            <a:avLst/>
          </a:prstGeom>
        </p:spPr>
      </p:pic>
      <p:sp>
        <p:nvSpPr>
          <p:cNvPr id="9" name="Text 5"/>
          <p:cNvSpPr txBox="1"/>
          <p:nvPr/>
        </p:nvSpPr>
        <p:spPr>
          <a:xfrm>
            <a:off x="4251960" y="4297680"/>
            <a:ext cx="3611880" cy="822960"/>
          </a:xfrm>
          <a:prstGeom prst="rect">
            <a:avLst/>
          </a:prstGeom>
          <a:noFill/>
        </p:spPr>
        <p:txBody>
          <a:bodyPr wrap="square" lIns="0" tIns="0" rIns="0" bIns="0" rtlCol="0" anchor="ctr"/>
          <a:lstStyle/>
          <a:p>
            <a:pPr marL="0" indent="0">
              <a:lnSpc>
                <a:spcPct val="120000"/>
              </a:lnSpc>
              <a:buNone/>
            </a:pPr>
            <a:r>
              <a:rPr lang="en-US" sz="1100" dirty="0">
                <a:solidFill>
                  <a:srgbClr val="3A3A45"/>
                </a:solidFill>
                <a:latin typeface="Calibri" panose="020F0502020204030204" pitchFamily="34" charset="0"/>
                <a:ea typeface="Calibri" panose="020F0502020204030204" pitchFamily="34" charset="-122"/>
                <a:cs typeface="Calibri" panose="020F0502020204030204" pitchFamily="34" charset="-120"/>
              </a:rPr>
              <a:t>Family sizes of 2-4 are most common, tapering off for larger households (6+).</a:t>
            </a:r>
            <a:endParaRPr lang="en-US" sz="1100" dirty="0"/>
          </a:p>
        </p:txBody>
      </p:sp>
      <p:sp>
        <p:nvSpPr>
          <p:cNvPr id="10" name="Shape 6"/>
          <p:cNvSpPr/>
          <p:nvPr/>
        </p:nvSpPr>
        <p:spPr>
          <a:xfrm>
            <a:off x="8046720" y="1417320"/>
            <a:ext cx="3611880" cy="2788920"/>
          </a:xfrm>
          <a:prstGeom prst="roundRect">
            <a:avLst>
              <a:gd name="adj" fmla="val 2623"/>
            </a:avLst>
          </a:prstGeom>
          <a:solidFill>
            <a:srgbClr val="F7F7FA"/>
          </a:solidFill>
        </p:spPr>
      </p:sp>
      <p:pic>
        <p:nvPicPr>
          <p:cNvPr id="11" name="Image 2" descr="charts/income_by_age_bar.png"/>
          <p:cNvPicPr>
            <a:picLocks noChangeAspect="1"/>
          </p:cNvPicPr>
          <p:nvPr/>
        </p:nvPicPr>
        <p:blipFill>
          <a:blip r:embed="rId3"/>
          <a:stretch>
            <a:fillRect/>
          </a:stretch>
        </p:blipFill>
        <p:spPr>
          <a:xfrm>
            <a:off x="8138160" y="1508760"/>
            <a:ext cx="3429000" cy="2468880"/>
          </a:xfrm>
          <a:prstGeom prst="rect">
            <a:avLst/>
          </a:prstGeom>
        </p:spPr>
      </p:pic>
      <p:sp>
        <p:nvSpPr>
          <p:cNvPr id="12" name="Text 7"/>
          <p:cNvSpPr txBox="1"/>
          <p:nvPr/>
        </p:nvSpPr>
        <p:spPr>
          <a:xfrm>
            <a:off x="8046720" y="4297680"/>
            <a:ext cx="3611880" cy="822960"/>
          </a:xfrm>
          <a:prstGeom prst="rect">
            <a:avLst/>
          </a:prstGeom>
          <a:noFill/>
        </p:spPr>
        <p:txBody>
          <a:bodyPr wrap="square" lIns="0" tIns="0" rIns="0" bIns="0" rtlCol="0" anchor="ctr"/>
          <a:lstStyle/>
          <a:p>
            <a:pPr marL="0" indent="0">
              <a:lnSpc>
                <a:spcPct val="120000"/>
              </a:lnSpc>
              <a:buNone/>
            </a:pPr>
            <a:r>
              <a:rPr lang="en-US" sz="1100" dirty="0">
                <a:solidFill>
                  <a:srgbClr val="3A3A45"/>
                </a:solidFill>
                <a:latin typeface="Calibri" panose="020F0502020204030204" pitchFamily="34" charset="0"/>
                <a:ea typeface="Calibri" panose="020F0502020204030204" pitchFamily="34" charset="-122"/>
                <a:cs typeface="Calibri" panose="020F0502020204030204" pitchFamily="34" charset="-120"/>
              </a:rPr>
              <a:t>Built from the derived age_group and monthly_income_midpoint columns (Step 5 transformations).</a:t>
            </a:r>
            <a:endParaRPr lang="en-US" sz="1100" dirty="0"/>
          </a:p>
        </p:txBody>
      </p:sp>
      <p:sp>
        <p:nvSpPr>
          <p:cNvPr id="13" name="Shape 8"/>
          <p:cNvSpPr/>
          <p:nvPr/>
        </p:nvSpPr>
        <p:spPr>
          <a:xfrm>
            <a:off x="457200" y="5257800"/>
            <a:ext cx="11201400" cy="1280160"/>
          </a:xfrm>
          <a:prstGeom prst="roundRect">
            <a:avLst>
              <a:gd name="adj" fmla="val 7143"/>
            </a:avLst>
          </a:prstGeom>
          <a:solidFill>
            <a:srgbClr val="2F3C7E"/>
          </a:solidFill>
        </p:spPr>
      </p:sp>
      <p:sp>
        <p:nvSpPr>
          <p:cNvPr id="14" name="Text 9"/>
          <p:cNvSpPr txBox="1"/>
          <p:nvPr/>
        </p:nvSpPr>
        <p:spPr>
          <a:xfrm>
            <a:off x="777240" y="5394960"/>
            <a:ext cx="10607040" cy="1005840"/>
          </a:xfrm>
          <a:prstGeom prst="rect">
            <a:avLst/>
          </a:prstGeom>
          <a:noFill/>
        </p:spPr>
        <p:txBody>
          <a:bodyPr wrap="square" lIns="0" tIns="0" rIns="0" bIns="0" rtlCol="0" anchor="ctr"/>
          <a:lstStyle/>
          <a:p>
            <a:pPr marL="0" indent="0">
              <a:lnSpc>
                <a:spcPct val="125000"/>
              </a:lnSpc>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This is the clearest relationship in the dataset: average income rises consistently across every age bracket, from ~Rs.4,500 (18-22) to Rs.60,000 (33+) — exactly the pattern you'd expect as respondents progress in their careers.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41C3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E795"/>
                </a:solidFill>
                <a:latin typeface="Calibri" panose="020F0502020204030204" pitchFamily="34" charset="0"/>
                <a:ea typeface="Calibri" panose="020F0502020204030204" pitchFamily="34" charset="-122"/>
                <a:cs typeface="Calibri" panose="020F0502020204030204" pitchFamily="34" charset="-120"/>
              </a:rPr>
              <a:t>07 · INSIGHTS &amp; FINDINGS</a:t>
            </a:r>
            <a:endParaRPr lang="en-US" sz="1200" dirty="0"/>
          </a:p>
        </p:txBody>
      </p:sp>
      <p:sp>
        <p:nvSpPr>
          <p:cNvPr id="3" name="Text 1"/>
          <p:cNvSpPr txBox="1"/>
          <p:nvPr/>
        </p:nvSpPr>
        <p:spPr>
          <a:xfrm>
            <a:off x="548640" y="621792"/>
            <a:ext cx="10515600" cy="594360"/>
          </a:xfrm>
          <a:prstGeom prst="rect">
            <a:avLst/>
          </a:prstGeom>
          <a:noFill/>
        </p:spPr>
        <p:txBody>
          <a:bodyPr wrap="square" lIns="0" tIns="0" rIns="0" bIns="0"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What the Data Tells Us</a:t>
            </a:r>
            <a:endParaRPr lang="en-US" sz="2800" dirty="0"/>
          </a:p>
        </p:txBody>
      </p:sp>
      <p:sp>
        <p:nvSpPr>
          <p:cNvPr id="4" name="Shape 2"/>
          <p:cNvSpPr/>
          <p:nvPr/>
        </p:nvSpPr>
        <p:spPr>
          <a:xfrm>
            <a:off x="548640" y="1417320"/>
            <a:ext cx="5349240" cy="2286000"/>
          </a:xfrm>
          <a:prstGeom prst="roundRect">
            <a:avLst>
              <a:gd name="adj" fmla="val 4000"/>
            </a:avLst>
          </a:prstGeom>
          <a:solidFill>
            <a:srgbClr val="31285A"/>
          </a:solidFill>
        </p:spPr>
      </p:sp>
      <p:sp>
        <p:nvSpPr>
          <p:cNvPr id="5" name="Text 3"/>
          <p:cNvSpPr txBox="1"/>
          <p:nvPr/>
        </p:nvSpPr>
        <p:spPr>
          <a:xfrm>
            <a:off x="822960" y="1618488"/>
            <a:ext cx="4800600" cy="457200"/>
          </a:xfrm>
          <a:prstGeom prst="rect">
            <a:avLst/>
          </a:prstGeom>
          <a:noFill/>
        </p:spPr>
        <p:txBody>
          <a:bodyPr wrap="square" lIns="0" tIns="0" rIns="0" bIns="0" rtlCol="0" anchor="ctr"/>
          <a:lstStyle/>
          <a:p>
            <a:pPr marL="0" indent="0">
              <a:buNone/>
            </a:pPr>
            <a:r>
              <a:rPr lang="en-US" sz="1450" b="1" dirty="0">
                <a:solidFill>
                  <a:srgbClr val="F9E795"/>
                </a:solidFill>
                <a:latin typeface="Calibri" panose="020F0502020204030204" pitchFamily="34" charset="0"/>
                <a:ea typeface="Calibri" panose="020F0502020204030204" pitchFamily="34" charset="-122"/>
                <a:cs typeface="Calibri" panose="020F0502020204030204" pitchFamily="34" charset="-120"/>
              </a:rPr>
              <a:t>Income tracks age, not just occupation</a:t>
            </a:r>
            <a:endParaRPr lang="en-US" sz="1450" dirty="0"/>
          </a:p>
        </p:txBody>
      </p:sp>
      <p:sp>
        <p:nvSpPr>
          <p:cNvPr id="6" name="Text 4"/>
          <p:cNvSpPr txBox="1"/>
          <p:nvPr/>
        </p:nvSpPr>
        <p:spPr>
          <a:xfrm>
            <a:off x="822960" y="2130552"/>
            <a:ext cx="4800600" cy="1371600"/>
          </a:xfrm>
          <a:prstGeom prst="rect">
            <a:avLst/>
          </a:prstGeom>
          <a:noFill/>
        </p:spPr>
        <p:txBody>
          <a:bodyPr wrap="square" lIns="0" tIns="0" rIns="0" bIns="0" rtlCol="0" anchor="ctr"/>
          <a:lstStyle/>
          <a:p>
            <a:pPr marL="0" indent="0">
              <a:lnSpc>
                <a:spcPct val="122000"/>
              </a:lnSpc>
              <a:buNone/>
            </a:pPr>
            <a:r>
              <a:rPr lang="en-US" sz="1150" dirty="0">
                <a:solidFill>
                  <a:srgbClr val="E3E0F0"/>
                </a:solidFill>
                <a:latin typeface="Calibri" panose="020F0502020204030204" pitchFamily="34" charset="0"/>
                <a:ea typeface="Calibri" panose="020F0502020204030204" pitchFamily="34" charset="-122"/>
                <a:cs typeface="Calibri" panose="020F0502020204030204" pitchFamily="34" charset="-120"/>
              </a:rPr>
              <a:t>The steady rise in average income across every age bracket (18-22 through 33+) suggests income in this sample is driven mainly by career stage/tenure rather than occupation type alone.</a:t>
            </a:r>
            <a:endParaRPr lang="en-US" sz="1150" dirty="0"/>
          </a:p>
        </p:txBody>
      </p:sp>
      <p:sp>
        <p:nvSpPr>
          <p:cNvPr id="7" name="Shape 5"/>
          <p:cNvSpPr/>
          <p:nvPr/>
        </p:nvSpPr>
        <p:spPr>
          <a:xfrm>
            <a:off x="6172200" y="1417320"/>
            <a:ext cx="5349240" cy="2286000"/>
          </a:xfrm>
          <a:prstGeom prst="roundRect">
            <a:avLst>
              <a:gd name="adj" fmla="val 4000"/>
            </a:avLst>
          </a:prstGeom>
          <a:solidFill>
            <a:srgbClr val="31285A"/>
          </a:solidFill>
        </p:spPr>
      </p:sp>
      <p:sp>
        <p:nvSpPr>
          <p:cNvPr id="8" name="Text 6"/>
          <p:cNvSpPr txBox="1"/>
          <p:nvPr/>
        </p:nvSpPr>
        <p:spPr>
          <a:xfrm>
            <a:off x="6446520" y="1618488"/>
            <a:ext cx="4800600" cy="457200"/>
          </a:xfrm>
          <a:prstGeom prst="rect">
            <a:avLst/>
          </a:prstGeom>
          <a:noFill/>
        </p:spPr>
        <p:txBody>
          <a:bodyPr wrap="square" lIns="0" tIns="0" rIns="0" bIns="0" rtlCol="0" anchor="ctr"/>
          <a:lstStyle/>
          <a:p>
            <a:pPr marL="0" indent="0">
              <a:buNone/>
            </a:pPr>
            <a:r>
              <a:rPr lang="en-US" sz="1450" b="1" dirty="0">
                <a:solidFill>
                  <a:srgbClr val="F9E795"/>
                </a:solidFill>
                <a:latin typeface="Calibri" panose="020F0502020204030204" pitchFamily="34" charset="0"/>
                <a:ea typeface="Calibri" panose="020F0502020204030204" pitchFamily="34" charset="-122"/>
                <a:cs typeface="Calibri" panose="020F0502020204030204" pitchFamily="34" charset="-120"/>
              </a:rPr>
              <a:t>Satisfaction and conversion move together</a:t>
            </a:r>
            <a:endParaRPr lang="en-US" sz="1450" dirty="0"/>
          </a:p>
        </p:txBody>
      </p:sp>
      <p:sp>
        <p:nvSpPr>
          <p:cNvPr id="9" name="Text 7"/>
          <p:cNvSpPr txBox="1"/>
          <p:nvPr/>
        </p:nvSpPr>
        <p:spPr>
          <a:xfrm>
            <a:off x="6446520" y="2130552"/>
            <a:ext cx="4800600" cy="1371600"/>
          </a:xfrm>
          <a:prstGeom prst="rect">
            <a:avLst/>
          </a:prstGeom>
          <a:noFill/>
        </p:spPr>
        <p:txBody>
          <a:bodyPr wrap="square" lIns="0" tIns="0" rIns="0" bIns="0" rtlCol="0" anchor="ctr"/>
          <a:lstStyle/>
          <a:p>
            <a:pPr marL="0" indent="0">
              <a:lnSpc>
                <a:spcPct val="122000"/>
              </a:lnSpc>
              <a:buNone/>
            </a:pPr>
            <a:r>
              <a:rPr lang="en-US" sz="1150" dirty="0">
                <a:solidFill>
                  <a:srgbClr val="E3E0F0"/>
                </a:solidFill>
                <a:latin typeface="Calibri" panose="020F0502020204030204" pitchFamily="34" charset="0"/>
                <a:ea typeface="Calibri" panose="020F0502020204030204" pitchFamily="34" charset="-122"/>
                <a:cs typeface="Calibri" panose="020F0502020204030204" pitchFamily="34" charset="-120"/>
              </a:rPr>
              <a:t>76% of sessions end in a completed order and 81% of feedback is positive — the two outcome measures reinforce each other rather than pulling in different directions, hinting that a good ordering experience and a completed order tend to co-occur.</a:t>
            </a:r>
            <a:endParaRPr lang="en-US" sz="1150" dirty="0"/>
          </a:p>
        </p:txBody>
      </p:sp>
      <p:sp>
        <p:nvSpPr>
          <p:cNvPr id="10" name="Shape 8"/>
          <p:cNvSpPr/>
          <p:nvPr/>
        </p:nvSpPr>
        <p:spPr>
          <a:xfrm>
            <a:off x="548640" y="3931920"/>
            <a:ext cx="5349240" cy="2286000"/>
          </a:xfrm>
          <a:prstGeom prst="roundRect">
            <a:avLst>
              <a:gd name="adj" fmla="val 4000"/>
            </a:avLst>
          </a:prstGeom>
          <a:solidFill>
            <a:srgbClr val="31285A"/>
          </a:solidFill>
        </p:spPr>
      </p:sp>
      <p:sp>
        <p:nvSpPr>
          <p:cNvPr id="11" name="Text 9"/>
          <p:cNvSpPr txBox="1"/>
          <p:nvPr/>
        </p:nvSpPr>
        <p:spPr>
          <a:xfrm>
            <a:off x="822960" y="4133088"/>
            <a:ext cx="4800600" cy="457200"/>
          </a:xfrm>
          <a:prstGeom prst="rect">
            <a:avLst/>
          </a:prstGeom>
          <a:noFill/>
        </p:spPr>
        <p:txBody>
          <a:bodyPr wrap="square" lIns="0" tIns="0" rIns="0" bIns="0" rtlCol="0" anchor="ctr"/>
          <a:lstStyle/>
          <a:p>
            <a:pPr marL="0" indent="0">
              <a:buNone/>
            </a:pPr>
            <a:r>
              <a:rPr lang="en-US" sz="1450" b="1" dirty="0">
                <a:solidFill>
                  <a:srgbClr val="F9E795"/>
                </a:solidFill>
                <a:latin typeface="Calibri" panose="020F0502020204030204" pitchFamily="34" charset="0"/>
                <a:ea typeface="Calibri" panose="020F0502020204030204" pitchFamily="34" charset="-122"/>
                <a:cs typeface="Calibri" panose="020F0502020204030204" pitchFamily="34" charset="-120"/>
              </a:rPr>
              <a:t>The sample skews young and single</a:t>
            </a:r>
            <a:endParaRPr lang="en-US" sz="1450" dirty="0"/>
          </a:p>
        </p:txBody>
      </p:sp>
      <p:sp>
        <p:nvSpPr>
          <p:cNvPr id="12" name="Text 10"/>
          <p:cNvSpPr txBox="1"/>
          <p:nvPr/>
        </p:nvSpPr>
        <p:spPr>
          <a:xfrm>
            <a:off x="822960" y="4645152"/>
            <a:ext cx="4800600" cy="1371600"/>
          </a:xfrm>
          <a:prstGeom prst="rect">
            <a:avLst/>
          </a:prstGeom>
          <a:noFill/>
        </p:spPr>
        <p:txBody>
          <a:bodyPr wrap="square" lIns="0" tIns="0" rIns="0" bIns="0" rtlCol="0" anchor="ctr"/>
          <a:lstStyle/>
          <a:p>
            <a:pPr marL="0" indent="0">
              <a:lnSpc>
                <a:spcPct val="122000"/>
              </a:lnSpc>
              <a:buNone/>
            </a:pPr>
            <a:r>
              <a:rPr lang="en-US" sz="1150" dirty="0">
                <a:solidFill>
                  <a:srgbClr val="E3E0F0"/>
                </a:solidFill>
                <a:latin typeface="Calibri" panose="020F0502020204030204" pitchFamily="34" charset="0"/>
                <a:ea typeface="Calibri" panose="020F0502020204030204" pitchFamily="34" charset="-122"/>
                <a:cs typeface="Calibri" panose="020F0502020204030204" pitchFamily="34" charset="-120"/>
              </a:rPr>
              <a:t>58% of respondents fall in the 23-27 bracket and most are single — this is a platform whose active/surveyed users are predominantly young professionals or students, which should be kept in mind before generalizing findings to other age groups.</a:t>
            </a:r>
            <a:endParaRPr lang="en-US" sz="1150" dirty="0"/>
          </a:p>
        </p:txBody>
      </p:sp>
      <p:sp>
        <p:nvSpPr>
          <p:cNvPr id="13" name="Shape 11"/>
          <p:cNvSpPr/>
          <p:nvPr/>
        </p:nvSpPr>
        <p:spPr>
          <a:xfrm>
            <a:off x="6172200" y="3931920"/>
            <a:ext cx="5349240" cy="2286000"/>
          </a:xfrm>
          <a:prstGeom prst="roundRect">
            <a:avLst>
              <a:gd name="adj" fmla="val 4000"/>
            </a:avLst>
          </a:prstGeom>
          <a:solidFill>
            <a:srgbClr val="31285A"/>
          </a:solidFill>
        </p:spPr>
      </p:sp>
      <p:sp>
        <p:nvSpPr>
          <p:cNvPr id="14" name="Text 12"/>
          <p:cNvSpPr txBox="1"/>
          <p:nvPr/>
        </p:nvSpPr>
        <p:spPr>
          <a:xfrm>
            <a:off x="6446520" y="4133088"/>
            <a:ext cx="4800600" cy="457200"/>
          </a:xfrm>
          <a:prstGeom prst="rect">
            <a:avLst/>
          </a:prstGeom>
          <a:noFill/>
        </p:spPr>
        <p:txBody>
          <a:bodyPr wrap="square" lIns="0" tIns="0" rIns="0" bIns="0" rtlCol="0" anchor="ctr"/>
          <a:lstStyle/>
          <a:p>
            <a:pPr marL="0" indent="0">
              <a:buNone/>
            </a:pPr>
            <a:r>
              <a:rPr lang="en-US" sz="1450" b="1" dirty="0">
                <a:solidFill>
                  <a:srgbClr val="F9E795"/>
                </a:solidFill>
                <a:latin typeface="Calibri" panose="020F0502020204030204" pitchFamily="34" charset="0"/>
                <a:ea typeface="Calibri" panose="020F0502020204030204" pitchFamily="34" charset="-122"/>
                <a:cs typeface="Calibri" panose="020F0502020204030204" pitchFamily="34" charset="-120"/>
              </a:rPr>
              <a:t>Duplicates could have skewed early conclusions</a:t>
            </a:r>
            <a:endParaRPr lang="en-US" sz="1450" dirty="0"/>
          </a:p>
        </p:txBody>
      </p:sp>
      <p:sp>
        <p:nvSpPr>
          <p:cNvPr id="15" name="Text 13"/>
          <p:cNvSpPr txBox="1"/>
          <p:nvPr/>
        </p:nvSpPr>
        <p:spPr>
          <a:xfrm>
            <a:off x="6446520" y="4645152"/>
            <a:ext cx="4800600" cy="1371600"/>
          </a:xfrm>
          <a:prstGeom prst="rect">
            <a:avLst/>
          </a:prstGeom>
          <a:noFill/>
        </p:spPr>
        <p:txBody>
          <a:bodyPr wrap="square" lIns="0" tIns="0" rIns="0" bIns="0" rtlCol="0" anchor="ctr"/>
          <a:lstStyle/>
          <a:p>
            <a:pPr marL="0" indent="0">
              <a:lnSpc>
                <a:spcPct val="122000"/>
              </a:lnSpc>
              <a:buNone/>
            </a:pPr>
            <a:r>
              <a:rPr lang="en-US" sz="1150" dirty="0">
                <a:solidFill>
                  <a:srgbClr val="E3E0F0"/>
                </a:solidFill>
                <a:latin typeface="Calibri" panose="020F0502020204030204" pitchFamily="34" charset="0"/>
                <a:ea typeface="Calibri" panose="020F0502020204030204" pitchFamily="34" charset="-122"/>
                <a:cs typeface="Calibri" panose="020F0502020204030204" pitchFamily="34" charset="-120"/>
              </a:rPr>
              <a:t>26.5% of the raw rows were exact duplicates. Had these not been removed, every percentage above would have been calculated on an inflated, double-counted base — a reminder that cleaning isn't cosmetic, it changes the numbers.</a:t>
            </a:r>
            <a:endParaRPr lang="en-US" sz="1150" dirty="0"/>
          </a:p>
        </p:txBody>
      </p:sp>
      <p:pic>
        <p:nvPicPr>
          <p:cNvPr id="16" name="Picture 15" descr="ic_trendingup.png"/>
          <p:cNvPicPr>
            <a:picLocks noChangeAspect="1"/>
          </p:cNvPicPr>
          <p:nvPr/>
        </p:nvPicPr>
        <p:blipFill>
          <a:blip r:embed="rId1"/>
          <a:stretch>
            <a:fillRect/>
          </a:stretch>
        </p:blipFill>
        <p:spPr>
          <a:xfrm>
            <a:off x="5212080" y="1645920"/>
            <a:ext cx="457200" cy="457200"/>
          </a:xfrm>
          <a:prstGeom prst="rect">
            <a:avLst/>
          </a:prstGeom>
        </p:spPr>
      </p:pic>
      <p:pic>
        <p:nvPicPr>
          <p:cNvPr id="17" name="Picture 16" descr="ic_checkcircle.png"/>
          <p:cNvPicPr>
            <a:picLocks noChangeAspect="1"/>
          </p:cNvPicPr>
          <p:nvPr/>
        </p:nvPicPr>
        <p:blipFill>
          <a:blip r:embed="rId2"/>
          <a:stretch>
            <a:fillRect/>
          </a:stretch>
        </p:blipFill>
        <p:spPr>
          <a:xfrm>
            <a:off x="10835640" y="1645920"/>
            <a:ext cx="457200" cy="457200"/>
          </a:xfrm>
          <a:prstGeom prst="rect">
            <a:avLst/>
          </a:prstGeom>
        </p:spPr>
      </p:pic>
      <p:pic>
        <p:nvPicPr>
          <p:cNvPr id="18" name="Picture 17" descr="ic_user.png"/>
          <p:cNvPicPr>
            <a:picLocks noChangeAspect="1"/>
          </p:cNvPicPr>
          <p:nvPr/>
        </p:nvPicPr>
        <p:blipFill>
          <a:blip r:embed="rId3"/>
          <a:stretch>
            <a:fillRect/>
          </a:stretch>
        </p:blipFill>
        <p:spPr>
          <a:xfrm>
            <a:off x="5212080" y="4160520"/>
            <a:ext cx="457200" cy="457200"/>
          </a:xfrm>
          <a:prstGeom prst="rect">
            <a:avLst/>
          </a:prstGeom>
        </p:spPr>
      </p:pic>
      <p:pic>
        <p:nvPicPr>
          <p:cNvPr id="19" name="Picture 18" descr="ic_alert.png"/>
          <p:cNvPicPr>
            <a:picLocks noChangeAspect="1"/>
          </p:cNvPicPr>
          <p:nvPr/>
        </p:nvPicPr>
        <p:blipFill>
          <a:blip r:embed="rId4"/>
          <a:stretch>
            <a:fillRect/>
          </a:stretch>
        </p:blipFill>
        <p:spPr>
          <a:xfrm>
            <a:off x="10835640" y="4160520"/>
            <a:ext cx="457200"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p:spPr>
        <p:txBody>
          <a:bodyPr wrap="square" lIns="0" tIns="0" rIns="0" bIns="0" rtlCol="0" anchor="ctr"/>
          <a:lstStyle/>
          <a:p>
            <a:pPr marL="0" indent="0">
              <a:buNone/>
            </a:pPr>
            <a:r>
              <a:rPr lang="en-US" sz="1200" b="1" kern="0" spc="200" dirty="0">
                <a:solidFill>
                  <a:srgbClr val="F96167"/>
                </a:solidFill>
                <a:latin typeface="Calibri" panose="020F0502020204030204" pitchFamily="34" charset="0"/>
                <a:ea typeface="Calibri" panose="020F0502020204030204" pitchFamily="34" charset="-122"/>
                <a:cs typeface="Calibri" panose="020F0502020204030204" pitchFamily="34" charset="-120"/>
              </a:rPr>
              <a:t>CONCLUSION</a:t>
            </a:r>
            <a:endParaRPr lang="en-US" sz="1200" dirty="0"/>
          </a:p>
        </p:txBody>
      </p:sp>
      <p:sp>
        <p:nvSpPr>
          <p:cNvPr id="3" name="Text 1"/>
          <p:cNvSpPr txBox="1"/>
          <p:nvPr/>
        </p:nvSpPr>
        <p:spPr>
          <a:xfrm>
            <a:off x="548640" y="621792"/>
            <a:ext cx="10515600" cy="594360"/>
          </a:xfrm>
          <a:prstGeom prst="rect">
            <a:avLst/>
          </a:prstGeom>
          <a:noFill/>
        </p:spPr>
        <p:txBody>
          <a:bodyPr wrap="square" lIns="0" tIns="0" rIns="0" bIns="0" rtlCol="0" anchor="ctr"/>
          <a:lstStyle/>
          <a:p>
            <a:pPr marL="0" indent="0">
              <a:buNone/>
            </a:pPr>
            <a:r>
              <a:rPr lang="en-US" sz="2800" b="1" dirty="0">
                <a:solidFill>
                  <a:srgbClr val="2F3C7E"/>
                </a:solidFill>
                <a:latin typeface="Cambria" panose="02040503050406030204" pitchFamily="34" charset="0"/>
                <a:ea typeface="Cambria" panose="02040503050406030204" pitchFamily="34" charset="-122"/>
                <a:cs typeface="Cambria" panose="02040503050406030204" pitchFamily="34" charset="-120"/>
              </a:rPr>
              <a:t>Conclusion &amp; Next Steps</a:t>
            </a:r>
            <a:endParaRPr lang="en-US" sz="2800" dirty="0"/>
          </a:p>
        </p:txBody>
      </p:sp>
      <p:sp>
        <p:nvSpPr>
          <p:cNvPr id="4" name="Shape 2"/>
          <p:cNvSpPr/>
          <p:nvPr/>
        </p:nvSpPr>
        <p:spPr>
          <a:xfrm>
            <a:off x="548640" y="1417320"/>
            <a:ext cx="5394960" cy="4572000"/>
          </a:xfrm>
          <a:prstGeom prst="roundRect">
            <a:avLst>
              <a:gd name="adj" fmla="val 2400"/>
            </a:avLst>
          </a:prstGeom>
          <a:solidFill>
            <a:srgbClr val="FBEAEA"/>
          </a:solidFill>
        </p:spPr>
      </p:sp>
      <p:sp>
        <p:nvSpPr>
          <p:cNvPr id="5" name="Text 3"/>
          <p:cNvSpPr txBox="1"/>
          <p:nvPr/>
        </p:nvSpPr>
        <p:spPr>
          <a:xfrm>
            <a:off x="868680" y="1691640"/>
            <a:ext cx="4754880" cy="365760"/>
          </a:xfrm>
          <a:prstGeom prst="rect">
            <a:avLst/>
          </a:prstGeom>
          <a:noFill/>
        </p:spPr>
        <p:txBody>
          <a:bodyPr wrap="square" lIns="0" tIns="0" rIns="0" bIns="0" rtlCol="0" anchor="ctr"/>
          <a:lstStyle/>
          <a:p>
            <a:pPr marL="0" indent="0">
              <a:buNone/>
            </a:pPr>
            <a:r>
              <a:rPr lang="en-US" sz="1600" b="1" dirty="0">
                <a:solidFill>
                  <a:srgbClr val="F96167"/>
                </a:solidFill>
                <a:latin typeface="Calibri" panose="020F0502020204030204" pitchFamily="34" charset="0"/>
                <a:ea typeface="Calibri" panose="020F0502020204030204" pitchFamily="34" charset="-122"/>
                <a:cs typeface="Calibri" panose="020F0502020204030204" pitchFamily="34" charset="-120"/>
              </a:rPr>
              <a:t>What we did</a:t>
            </a:r>
            <a:endParaRPr lang="en-US" sz="1600" dirty="0"/>
          </a:p>
        </p:txBody>
      </p:sp>
      <p:sp>
        <p:nvSpPr>
          <p:cNvPr id="6" name="Text 4"/>
          <p:cNvSpPr txBox="1"/>
          <p:nvPr/>
        </p:nvSpPr>
        <p:spPr>
          <a:xfrm>
            <a:off x="868680" y="2148840"/>
            <a:ext cx="4754880" cy="3657600"/>
          </a:xfrm>
          <a:prstGeom prst="rect">
            <a:avLst/>
          </a:prstGeom>
          <a:noFill/>
        </p:spPr>
        <p:txBody>
          <a:bodyPr wrap="square" lIns="0" tIns="0" rIns="0" bIns="0" rtlCol="0" anchor="ctr"/>
          <a:lstStyle/>
          <a:p>
            <a:pPr marL="228600" indent="-228600">
              <a:lnSpc>
                <a:spcPct val="118000"/>
              </a:lnSpc>
              <a:spcAft>
                <a:spcPts val="900"/>
              </a:spcAft>
              <a:buSzPct val="100000"/>
              <a:buChar char="●"/>
            </a:pPr>
            <a:r>
              <a:rPr lang="en-US" sz="1200" dirty="0">
                <a:solidFill>
                  <a:srgbClr val="3A3A45"/>
                </a:solidFill>
                <a:latin typeface="Calibri" panose="020F0502020204030204" pitchFamily="34" charset="0"/>
                <a:ea typeface="Calibri" panose="020F0502020204030204" pitchFamily="34" charset="-122"/>
                <a:cs typeface="Calibri" panose="020F0502020204030204" pitchFamily="34" charset="-120"/>
              </a:rPr>
              <a:t>Selected the Online Food Dataset (Kaggle) for its realistic, uncleaned structure and clear outcome columns.</a:t>
            </a:r>
            <a:endParaRPr lang="en-US" sz="1200" dirty="0"/>
          </a:p>
          <a:p>
            <a:pPr marL="228600" indent="-228600">
              <a:lnSpc>
                <a:spcPct val="118000"/>
              </a:lnSpc>
              <a:spcAft>
                <a:spcPts val="900"/>
              </a:spcAft>
              <a:buSzPct val="100000"/>
              <a:buChar char="●"/>
            </a:pPr>
            <a:r>
              <a:rPr lang="en-US" sz="1200" dirty="0">
                <a:solidFill>
                  <a:srgbClr val="3A3A45"/>
                </a:solidFill>
                <a:latin typeface="Calibri" panose="020F0502020204030204" pitchFamily="34" charset="0"/>
                <a:ea typeface="Calibri" panose="020F0502020204030204" pitchFamily="34" charset="-122"/>
                <a:cs typeface="Calibri" panose="020F0502020204030204" pitchFamily="34" charset="-120"/>
              </a:rPr>
              <a:t>Checked for and handled missing values (mean/mode fill logic).</a:t>
            </a:r>
            <a:endParaRPr lang="en-US" sz="1200" dirty="0"/>
          </a:p>
          <a:p>
            <a:pPr marL="228600" indent="-228600">
              <a:lnSpc>
                <a:spcPct val="118000"/>
              </a:lnSpc>
              <a:spcAft>
                <a:spcPts val="900"/>
              </a:spcAft>
              <a:buSzPct val="100000"/>
              <a:buChar char="●"/>
            </a:pPr>
            <a:r>
              <a:rPr lang="en-US" sz="1200" dirty="0">
                <a:solidFill>
                  <a:srgbClr val="3A3A45"/>
                </a:solidFill>
                <a:latin typeface="Calibri" panose="020F0502020204030204" pitchFamily="34" charset="0"/>
                <a:ea typeface="Calibri" panose="020F0502020204030204" pitchFamily="34" charset="-122"/>
                <a:cs typeface="Calibri" panose="020F0502020204030204" pitchFamily="34" charset="-120"/>
              </a:rPr>
              <a:t>Cleaned duplicate rows (103 removed) and a redundant column.</a:t>
            </a:r>
            <a:endParaRPr lang="en-US" sz="1200" dirty="0"/>
          </a:p>
          <a:p>
            <a:pPr marL="228600" indent="-228600">
              <a:lnSpc>
                <a:spcPct val="118000"/>
              </a:lnSpc>
              <a:spcAft>
                <a:spcPts val="900"/>
              </a:spcAft>
              <a:buSzPct val="100000"/>
              <a:buChar char="●"/>
            </a:pPr>
            <a:r>
              <a:rPr lang="en-US" sz="1200" dirty="0">
                <a:solidFill>
                  <a:srgbClr val="3A3A45"/>
                </a:solidFill>
                <a:latin typeface="Calibri" panose="020F0502020204030204" pitchFamily="34" charset="0"/>
                <a:ea typeface="Calibri" panose="020F0502020204030204" pitchFamily="34" charset="-122"/>
                <a:cs typeface="Calibri" panose="020F0502020204030204" pitchFamily="34" charset="-120"/>
              </a:rPr>
              <a:t>Transformed columns: renamed to snake_case, derived age_group and monthly_income_midpoint.</a:t>
            </a:r>
            <a:endParaRPr lang="en-US" sz="1200" dirty="0"/>
          </a:p>
          <a:p>
            <a:pPr marL="228600" indent="-228600">
              <a:lnSpc>
                <a:spcPct val="118000"/>
              </a:lnSpc>
              <a:spcAft>
                <a:spcPts val="900"/>
              </a:spcAft>
              <a:buSzPct val="100000"/>
              <a:buChar char="●"/>
            </a:pPr>
            <a:r>
              <a:rPr lang="en-US" sz="1200" dirty="0">
                <a:solidFill>
                  <a:srgbClr val="3A3A45"/>
                </a:solidFill>
                <a:latin typeface="Calibri" panose="020F0502020204030204" pitchFamily="34" charset="0"/>
                <a:ea typeface="Calibri" panose="020F0502020204030204" pitchFamily="34" charset="-122"/>
                <a:cs typeface="Calibri" panose="020F0502020204030204" pitchFamily="34" charset="-120"/>
              </a:rPr>
              <a:t>Visualized categorical, numeric, and derived columns; drew out patterns and relationships.</a:t>
            </a:r>
            <a:endParaRPr lang="en-US" sz="1200" dirty="0"/>
          </a:p>
        </p:txBody>
      </p:sp>
      <p:sp>
        <p:nvSpPr>
          <p:cNvPr id="7" name="Shape 5"/>
          <p:cNvSpPr/>
          <p:nvPr/>
        </p:nvSpPr>
        <p:spPr>
          <a:xfrm>
            <a:off x="6217920" y="1417320"/>
            <a:ext cx="5394960" cy="4572000"/>
          </a:xfrm>
          <a:prstGeom prst="roundRect">
            <a:avLst>
              <a:gd name="adj" fmla="val 2400"/>
            </a:avLst>
          </a:prstGeom>
          <a:solidFill>
            <a:srgbClr val="2F3C7E"/>
          </a:solidFill>
        </p:spPr>
      </p:sp>
      <p:sp>
        <p:nvSpPr>
          <p:cNvPr id="8" name="Text 6"/>
          <p:cNvSpPr txBox="1"/>
          <p:nvPr/>
        </p:nvSpPr>
        <p:spPr>
          <a:xfrm>
            <a:off x="6537960" y="1691640"/>
            <a:ext cx="4754880" cy="365760"/>
          </a:xfrm>
          <a:prstGeom prst="rect">
            <a:avLst/>
          </a:prstGeom>
          <a:noFill/>
        </p:spPr>
        <p:txBody>
          <a:bodyPr wrap="square" lIns="0" tIns="0" rIns="0" bIns="0" rtlCol="0" anchor="ctr"/>
          <a:lstStyle/>
          <a:p>
            <a:pPr marL="0" indent="0">
              <a:buNone/>
            </a:pPr>
            <a:r>
              <a:rPr lang="en-US" sz="1600" b="1" dirty="0">
                <a:solidFill>
                  <a:srgbClr val="F9E795"/>
                </a:solidFill>
                <a:latin typeface="Calibri" panose="020F0502020204030204" pitchFamily="34" charset="0"/>
                <a:ea typeface="Calibri" panose="020F0502020204030204" pitchFamily="34" charset="-122"/>
                <a:cs typeface="Calibri" panose="020F0502020204030204" pitchFamily="34" charset="-120"/>
              </a:rPr>
              <a:t>Possible next steps</a:t>
            </a:r>
            <a:endParaRPr lang="en-US" sz="1600" dirty="0"/>
          </a:p>
        </p:txBody>
      </p:sp>
      <p:sp>
        <p:nvSpPr>
          <p:cNvPr id="9" name="Text 7"/>
          <p:cNvSpPr txBox="1"/>
          <p:nvPr/>
        </p:nvSpPr>
        <p:spPr>
          <a:xfrm>
            <a:off x="6537960" y="2148840"/>
            <a:ext cx="4754880" cy="3657600"/>
          </a:xfrm>
          <a:prstGeom prst="rect">
            <a:avLst/>
          </a:prstGeom>
          <a:noFill/>
        </p:spPr>
        <p:txBody>
          <a:bodyPr wrap="square" lIns="0" tIns="0" rIns="0" bIns="0" rtlCol="0" anchor="ctr"/>
          <a:lstStyle/>
          <a:p>
            <a:pPr marL="228600" indent="-228600">
              <a:lnSpc>
                <a:spcPct val="118000"/>
              </a:lnSpc>
              <a:spcAft>
                <a:spcPts val="900"/>
              </a:spcAft>
              <a:buSzPct val="100000"/>
              <a:buChar char="●"/>
            </a:pPr>
            <a:r>
              <a:rPr lang="en-US" sz="1200" dirty="0">
                <a:solidFill>
                  <a:srgbClr val="E3E0F0"/>
                </a:solidFill>
                <a:latin typeface="Calibri" panose="020F0502020204030204" pitchFamily="34" charset="0"/>
                <a:ea typeface="Calibri" panose="020F0502020204030204" pitchFamily="34" charset="-122"/>
                <a:cs typeface="Calibri" panose="020F0502020204030204" pitchFamily="34" charset="-120"/>
              </a:rPr>
              <a:t>Build a classification model to predict Output using demographic and income features.</a:t>
            </a:r>
            <a:endParaRPr lang="en-US" sz="1200" dirty="0"/>
          </a:p>
          <a:p>
            <a:pPr marL="228600" indent="-228600">
              <a:lnSpc>
                <a:spcPct val="118000"/>
              </a:lnSpc>
              <a:spcAft>
                <a:spcPts val="900"/>
              </a:spcAft>
              <a:buSzPct val="100000"/>
              <a:buChar char="●"/>
            </a:pPr>
            <a:r>
              <a:rPr lang="en-US" sz="1200" dirty="0">
                <a:solidFill>
                  <a:srgbClr val="E3E0F0"/>
                </a:solidFill>
                <a:latin typeface="Calibri" panose="020F0502020204030204" pitchFamily="34" charset="0"/>
                <a:ea typeface="Calibri" panose="020F0502020204030204" pitchFamily="34" charset="-122"/>
                <a:cs typeface="Calibri" panose="020F0502020204030204" pitchFamily="34" charset="-120"/>
              </a:rPr>
              <a:t>Test whether income or age is the stronger driver of positive feedback.</a:t>
            </a:r>
            <a:endParaRPr lang="en-US" sz="1200" dirty="0"/>
          </a:p>
          <a:p>
            <a:pPr marL="228600" indent="-228600">
              <a:lnSpc>
                <a:spcPct val="118000"/>
              </a:lnSpc>
              <a:spcAft>
                <a:spcPts val="900"/>
              </a:spcAft>
              <a:buSzPct val="100000"/>
              <a:buChar char="●"/>
            </a:pPr>
            <a:r>
              <a:rPr lang="en-US" sz="1200" dirty="0">
                <a:solidFill>
                  <a:srgbClr val="E3E0F0"/>
                </a:solidFill>
                <a:latin typeface="Calibri" panose="020F0502020204030204" pitchFamily="34" charset="0"/>
                <a:ea typeface="Calibri" panose="020F0502020204030204" pitchFamily="34" charset="-122"/>
                <a:cs typeface="Calibri" panose="020F0502020204030204" pitchFamily="34" charset="-120"/>
              </a:rPr>
              <a:t>Map geographic patterns using latitude/longitude and pin code.</a:t>
            </a:r>
            <a:endParaRPr lang="en-US" sz="1200" dirty="0"/>
          </a:p>
          <a:p>
            <a:pPr marL="228600" indent="-228600">
              <a:lnSpc>
                <a:spcPct val="118000"/>
              </a:lnSpc>
              <a:spcAft>
                <a:spcPts val="900"/>
              </a:spcAft>
              <a:buSzPct val="100000"/>
              <a:buChar char="●"/>
            </a:pPr>
            <a:r>
              <a:rPr lang="en-US" sz="1200" dirty="0">
                <a:solidFill>
                  <a:srgbClr val="E3E0F0"/>
                </a:solidFill>
                <a:latin typeface="Calibri" panose="020F0502020204030204" pitchFamily="34" charset="0"/>
                <a:ea typeface="Calibri" panose="020F0502020204030204" pitchFamily="34" charset="-122"/>
                <a:cs typeface="Calibri" panose="020F0502020204030204" pitchFamily="34" charset="-120"/>
              </a:rPr>
              <a:t>Re-run the analysis on fresh data pulls to confirm the duplicate-row issue is source-specific.</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41C3D"/>
        </a:solidFill>
        <a:effectLst/>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F96167">
              <a:alpha val="20000"/>
            </a:srgbClr>
          </a:solidFill>
        </p:spPr>
      </p:sp>
      <p:sp>
        <p:nvSpPr>
          <p:cNvPr id="3" name="Shape 1"/>
          <p:cNvSpPr/>
          <p:nvPr/>
        </p:nvSpPr>
        <p:spPr>
          <a:xfrm>
            <a:off x="-1828800" y="4572000"/>
            <a:ext cx="4572000" cy="4572000"/>
          </a:xfrm>
          <a:prstGeom prst="ellipse">
            <a:avLst/>
          </a:prstGeom>
          <a:solidFill>
            <a:srgbClr val="F9E795">
              <a:alpha val="15000"/>
            </a:srgbClr>
          </a:solidFill>
        </p:spPr>
      </p:sp>
      <p:sp>
        <p:nvSpPr>
          <p:cNvPr id="4" name="Text 2"/>
          <p:cNvSpPr txBox="1"/>
          <p:nvPr/>
        </p:nvSpPr>
        <p:spPr>
          <a:xfrm>
            <a:off x="822960" y="2286000"/>
            <a:ext cx="10515600" cy="457200"/>
          </a:xfrm>
          <a:prstGeom prst="rect">
            <a:avLst/>
          </a:prstGeom>
          <a:noFill/>
        </p:spPr>
        <p:txBody>
          <a:bodyPr wrap="square" lIns="0" tIns="0" rIns="0" bIns="0" rtlCol="0" anchor="ctr"/>
          <a:lstStyle/>
          <a:p>
            <a:pPr marL="0" indent="0">
              <a:buNone/>
            </a:pPr>
            <a:r>
              <a:rPr lang="en-US" sz="1600" b="1" kern="0" spc="400" dirty="0">
                <a:solidFill>
                  <a:srgbClr val="F9E795"/>
                </a:solidFill>
                <a:latin typeface="Calibri" panose="020F0502020204030204" pitchFamily="34" charset="0"/>
                <a:ea typeface="Calibri" panose="020F0502020204030204" pitchFamily="34" charset="-122"/>
                <a:cs typeface="Calibri" panose="020F0502020204030204" pitchFamily="34" charset="-120"/>
              </a:rPr>
              <a:t>THANK YOU</a:t>
            </a:r>
            <a:endParaRPr lang="en-US" sz="1600" dirty="0"/>
          </a:p>
        </p:txBody>
      </p:sp>
      <p:sp>
        <p:nvSpPr>
          <p:cNvPr id="5" name="Text 3"/>
          <p:cNvSpPr txBox="1"/>
          <p:nvPr/>
        </p:nvSpPr>
        <p:spPr>
          <a:xfrm>
            <a:off x="822960" y="2697480"/>
            <a:ext cx="10058400" cy="1188720"/>
          </a:xfrm>
          <a:prstGeom prst="rect">
            <a:avLst/>
          </a:prstGeom>
          <a:noFill/>
        </p:spPr>
        <p:txBody>
          <a:bodyPr wrap="square" lIns="0" tIns="0" rIns="0" bIns="0" rtlCol="0" anchor="ctr"/>
          <a:lstStyle/>
          <a:p>
            <a:pPr marL="0" indent="0">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 for This Opportunity</a:t>
            </a:r>
            <a:endParaRPr lang="en-US" sz="4000" dirty="0"/>
          </a:p>
        </p:txBody>
      </p:sp>
      <p:sp>
        <p:nvSpPr>
          <p:cNvPr id="6" name="Text 4"/>
          <p:cNvSpPr txBox="1"/>
          <p:nvPr/>
        </p:nvSpPr>
        <p:spPr>
          <a:xfrm>
            <a:off x="822960" y="3931920"/>
            <a:ext cx="8686800" cy="731520"/>
          </a:xfrm>
          <a:prstGeom prst="rect">
            <a:avLst/>
          </a:prstGeom>
          <a:noFill/>
        </p:spPr>
        <p:txBody>
          <a:bodyPr wrap="square" lIns="0" tIns="0" rIns="0" bIns="0" rtlCol="0" anchor="ctr"/>
          <a:lstStyle/>
          <a:p>
            <a:pPr marL="0" indent="0">
              <a:lnSpc>
                <a:spcPct val="130000"/>
              </a:lnSpc>
              <a:buNone/>
            </a:pPr>
            <a:r>
              <a:rPr lang="en-US" sz="1500" dirty="0">
                <a:solidFill>
                  <a:srgbClr val="CFCBE0"/>
                </a:solidFill>
                <a:latin typeface="Calibri" panose="020F0502020204030204" pitchFamily="34" charset="0"/>
                <a:ea typeface="Calibri" panose="020F0502020204030204" pitchFamily="34" charset="-122"/>
                <a:cs typeface="Calibri" panose="020F0502020204030204" pitchFamily="34" charset="-120"/>
              </a:rPr>
              <a:t>We appreciate the chance to explore, analyze, and present this project.</a:t>
            </a:r>
            <a:endParaRPr lang="en-US" sz="1500" dirty="0"/>
          </a:p>
          <a:p>
            <a:pPr marL="0" indent="0">
              <a:lnSpc>
                <a:spcPct val="130000"/>
              </a:lnSpc>
              <a:buNone/>
            </a:pPr>
            <a:r>
              <a:rPr lang="en-US" sz="1500" dirty="0">
                <a:solidFill>
                  <a:srgbClr val="CFCBE0"/>
                </a:solidFill>
                <a:latin typeface="Calibri" panose="020F0502020204030204" pitchFamily="34" charset="0"/>
                <a:ea typeface="Calibri" panose="020F0502020204030204" pitchFamily="34" charset="-122"/>
                <a:cs typeface="Calibri" panose="020F0502020204030204" pitchFamily="34" charset="-120"/>
              </a:rPr>
              <a:t>Thank you for your time, guidance, and support along the way.</a:t>
            </a:r>
            <a:endParaRPr lang="en-US" sz="1500" dirty="0"/>
          </a:p>
        </p:txBody>
      </p:sp>
      <p:sp>
        <p:nvSpPr>
          <p:cNvPr id="7" name="Text 5"/>
          <p:cNvSpPr txBox="1"/>
          <p:nvPr/>
        </p:nvSpPr>
        <p:spPr>
          <a:xfrm>
            <a:off x="822960" y="5852160"/>
            <a:ext cx="3795395" cy="548640"/>
          </a:xfrm>
          <a:prstGeom prst="rect">
            <a:avLst/>
          </a:prstGeom>
          <a:noFill/>
        </p:spPr>
        <p:txBody>
          <a:bodyPr wrap="square" lIns="0" tIns="0" rIns="0" bIns="0" rtlCol="0" anchor="ctr"/>
          <a:lstStyle/>
          <a:p>
            <a:pPr marL="0" indent="0">
              <a:buNone/>
            </a:pPr>
            <a:r>
              <a:rPr lang="en-US" sz="2000" dirty="0">
                <a:solidFill>
                  <a:srgbClr val="F9E795"/>
                </a:solidFill>
              </a:rPr>
              <a:t>Tech Tiitans</a:t>
            </a:r>
            <a:endParaRPr lang="en-US" sz="2000" dirty="0">
              <a:solidFill>
                <a:srgbClr val="F9E795"/>
              </a:solidFill>
            </a:endParaRPr>
          </a:p>
        </p:txBody>
      </p:sp>
      <p:pic>
        <p:nvPicPr>
          <p:cNvPr id="8" name="Picture 7" descr="ic_handshake2.png"/>
          <p:cNvPicPr>
            <a:picLocks noChangeAspect="1"/>
          </p:cNvPicPr>
          <p:nvPr/>
        </p:nvPicPr>
        <p:blipFill>
          <a:blip r:embed="rId1"/>
          <a:stretch>
            <a:fillRect/>
          </a:stretch>
        </p:blipFill>
        <p:spPr>
          <a:xfrm>
            <a:off x="9500000" y="550000"/>
            <a:ext cx="2000000" cy="200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6711</Words>
  <Application>WPS Presentation</Application>
  <PresentationFormat>On-screen Show (16:9)</PresentationFormat>
  <Paragraphs>204</Paragraphs>
  <Slides>11</Slides>
  <Notes>10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Amiri</vt:lpstr>
      <vt:lpstr>Microsoft YaHei</vt:lpstr>
      <vt:lpstr>Cambria</vt:lpstr>
      <vt:lpstr>Comic Sans MS</vt:lpstr>
      <vt:lpstr>Calibri</vt:lpstr>
      <vt:lpstr>Calibri</vt:lpstr>
      <vt:lpstr>Calibri</vt:lpstr>
      <vt:lpstr>Cambria</vt:lpstr>
      <vt:lpstr>Cambria</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shaik</cp:lastModifiedBy>
  <cp:revision>9</cp:revision>
  <dcterms:created xsi:type="dcterms:W3CDTF">2026-09-05T09:56:00Z</dcterms:created>
  <dcterms:modified xsi:type="dcterms:W3CDTF">2026-09-06T06:19:12Z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5A90B609FA0146419B26E84DD5069628_13</vt:lpwstr>
  </property>
  <property fmtid="{D5CDD505-2E9C-101B-9397-08002B2CF9AE}" pid="3" name="KSOProductBuildVer">
    <vt:lpwstr>1033-12.1.0.28485</vt:lpwstr>
  </property>
</Properties>
</file>